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ad61282ad49c7" /><Relationship Type="http://schemas.openxmlformats.org/officeDocument/2006/relationships/extended-properties" Target="/docProps/app.xml" Id="Rc86458ddd9f642f3" /><Relationship Type="http://schemas.openxmlformats.org/officeDocument/2006/relationships/officeDocument" Target="/ppt/presentation.xml" Id="R5366308976ed44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44dadbd7da4413"/>
  </p:sldMasterIdLst>
  <p:notesMasterIdLst>
    <p:notesMasterId xmlns:r="http://schemas.openxmlformats.org/officeDocument/2006/relationships" r:id="R760f153da2a948d8"/>
  </p:notesMasterIdLst>
  <p:sldIdLst>
    <p:sldId xmlns:r="http://schemas.openxmlformats.org/officeDocument/2006/relationships" id="256" r:id="R43f5c1dadcfc46d5"/>
    <p:sldId xmlns:r="http://schemas.openxmlformats.org/officeDocument/2006/relationships" id="257" r:id="R32e06dd4071c4cc5"/>
    <p:sldId xmlns:r="http://schemas.openxmlformats.org/officeDocument/2006/relationships" id="258" r:id="R1e0e2146901e448f"/>
    <p:sldId xmlns:r="http://schemas.openxmlformats.org/officeDocument/2006/relationships" id="259" r:id="R10d3056e084d4cbb"/>
    <p:sldId xmlns:r="http://schemas.openxmlformats.org/officeDocument/2006/relationships" id="260" r:id="Ra0be92f67a574f2f"/>
    <p:sldId xmlns:r="http://schemas.openxmlformats.org/officeDocument/2006/relationships" id="261" r:id="Rd5e56cadbde64081"/>
    <p:sldId xmlns:r="http://schemas.openxmlformats.org/officeDocument/2006/relationships" id="262" r:id="R636a1ec4254c4f27"/>
    <p:sldId xmlns:r="http://schemas.openxmlformats.org/officeDocument/2006/relationships" id="263" r:id="R9b872be0c80c4fa9"/>
    <p:sldId xmlns:r="http://schemas.openxmlformats.org/officeDocument/2006/relationships" id="264" r:id="Rf5a8091ce67c41e1"/>
    <p:sldId xmlns:r="http://schemas.openxmlformats.org/officeDocument/2006/relationships" id="265" r:id="R842ff5c636274c9f"/>
    <p:sldId xmlns:r="http://schemas.openxmlformats.org/officeDocument/2006/relationships" id="266" r:id="Rcceac8c7c8f043ba"/>
    <p:sldId xmlns:r="http://schemas.openxmlformats.org/officeDocument/2006/relationships" id="267" r:id="Raed1df00a8054938"/>
    <p:sldId xmlns:r="http://schemas.openxmlformats.org/officeDocument/2006/relationships" id="268" r:id="R3d082e5d39ab484d"/>
    <p:sldId xmlns:r="http://schemas.openxmlformats.org/officeDocument/2006/relationships" id="269" r:id="R339d54f6224a49bc"/>
    <p:sldId xmlns:r="http://schemas.openxmlformats.org/officeDocument/2006/relationships" id="270" r:id="R892adeab8fbd46d2"/>
    <p:sldId xmlns:r="http://schemas.openxmlformats.org/officeDocument/2006/relationships" id="271" r:id="Ra5a600c827834679"/>
    <p:sldId xmlns:r="http://schemas.openxmlformats.org/officeDocument/2006/relationships" id="272" r:id="Rdb7999994a914211"/>
    <p:sldId xmlns:r="http://schemas.openxmlformats.org/officeDocument/2006/relationships" id="273" r:id="R7c2fb2922f5c4b2a"/>
    <p:sldId xmlns:r="http://schemas.openxmlformats.org/officeDocument/2006/relationships" id="274" r:id="R08a7675220b949ce"/>
    <p:sldId xmlns:r="http://schemas.openxmlformats.org/officeDocument/2006/relationships" id="275" r:id="R094625d37c124421"/>
    <p:sldId xmlns:r="http://schemas.openxmlformats.org/officeDocument/2006/relationships" id="276" r:id="R1f7aa74a2af949c0"/>
    <p:sldId xmlns:r="http://schemas.openxmlformats.org/officeDocument/2006/relationships" id="277" r:id="Ra46544c7a5d745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da5f2f0bc44c3" /><Relationship Type="http://schemas.openxmlformats.org/officeDocument/2006/relationships/slideMaster" Target="/ppt/slideMasters/slideMaster1.xml" Id="R5744dadbd7da4413" /><Relationship Type="http://schemas.openxmlformats.org/officeDocument/2006/relationships/notesMaster" Target="/ppt/notesMasters/notesMaster1.xml" Id="R760f153da2a948d8" /><Relationship Type="http://schemas.openxmlformats.org/officeDocument/2006/relationships/presProps" Target="/ppt/presProps.xml" Id="Rd849c5ab826548a7" /><Relationship Type="http://schemas.openxmlformats.org/officeDocument/2006/relationships/tableStyles" Target="/ppt/tableStyles.xml" Id="R34e9fa638c1a492e" /><Relationship Type="http://schemas.openxmlformats.org/officeDocument/2006/relationships/slide" Target="/ppt/slides/slide1.xml" Id="R43f5c1dadcfc46d5" /><Relationship Type="http://schemas.openxmlformats.org/officeDocument/2006/relationships/slide" Target="/ppt/slides/slide2.xml" Id="R32e06dd4071c4cc5" /><Relationship Type="http://schemas.openxmlformats.org/officeDocument/2006/relationships/slide" Target="/ppt/slides/slide3.xml" Id="R1e0e2146901e448f" /><Relationship Type="http://schemas.openxmlformats.org/officeDocument/2006/relationships/slide" Target="/ppt/slides/slide4.xml" Id="R10d3056e084d4cbb" /><Relationship Type="http://schemas.openxmlformats.org/officeDocument/2006/relationships/slide" Target="/ppt/slides/slide5.xml" Id="Ra0be92f67a574f2f" /><Relationship Type="http://schemas.openxmlformats.org/officeDocument/2006/relationships/slide" Target="/ppt/slides/slide6.xml" Id="Rd5e56cadbde64081" /><Relationship Type="http://schemas.openxmlformats.org/officeDocument/2006/relationships/slide" Target="/ppt/slides/slide7.xml" Id="R636a1ec4254c4f27" /><Relationship Type="http://schemas.openxmlformats.org/officeDocument/2006/relationships/slide" Target="/ppt/slides/slide8.xml" Id="R9b872be0c80c4fa9" /><Relationship Type="http://schemas.openxmlformats.org/officeDocument/2006/relationships/slide" Target="/ppt/slides/slide9.xml" Id="Rf5a8091ce67c41e1" /><Relationship Type="http://schemas.openxmlformats.org/officeDocument/2006/relationships/slide" Target="/ppt/slides/slide10.xml" Id="R842ff5c636274c9f" /><Relationship Type="http://schemas.openxmlformats.org/officeDocument/2006/relationships/slide" Target="/ppt/slides/slide11.xml" Id="Rcceac8c7c8f043ba" /><Relationship Type="http://schemas.openxmlformats.org/officeDocument/2006/relationships/slide" Target="/ppt/slides/slide12.xml" Id="Raed1df00a8054938" /><Relationship Type="http://schemas.openxmlformats.org/officeDocument/2006/relationships/slide" Target="/ppt/slides/slide13.xml" Id="R3d082e5d39ab484d" /><Relationship Type="http://schemas.openxmlformats.org/officeDocument/2006/relationships/slide" Target="/ppt/slides/slide14.xml" Id="R339d54f6224a49bc" /><Relationship Type="http://schemas.openxmlformats.org/officeDocument/2006/relationships/slide" Target="/ppt/slides/slide15.xml" Id="R892adeab8fbd46d2" /><Relationship Type="http://schemas.openxmlformats.org/officeDocument/2006/relationships/slide" Target="/ppt/slides/slide16.xml" Id="Ra5a600c827834679" /><Relationship Type="http://schemas.openxmlformats.org/officeDocument/2006/relationships/slide" Target="/ppt/slides/slide17.xml" Id="Rdb7999994a914211" /><Relationship Type="http://schemas.openxmlformats.org/officeDocument/2006/relationships/slide" Target="/ppt/slides/slide18.xml" Id="R7c2fb2922f5c4b2a" /><Relationship Type="http://schemas.openxmlformats.org/officeDocument/2006/relationships/slide" Target="/ppt/slides/slide19.xml" Id="R08a7675220b949ce" /><Relationship Type="http://schemas.openxmlformats.org/officeDocument/2006/relationships/slide" Target="/ppt/slides/slide20.xml" Id="R094625d37c124421" /><Relationship Type="http://schemas.openxmlformats.org/officeDocument/2006/relationships/slide" Target="/ppt/slides/slide21.xml" Id="R1f7aa74a2af949c0" /><Relationship Type="http://schemas.openxmlformats.org/officeDocument/2006/relationships/slide" Target="/ppt/slides/slide22.xml" Id="Ra46544c7a5d745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37f864b2d24f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3879b5b0904d40" /><Relationship Type="http://schemas.openxmlformats.org/officeDocument/2006/relationships/notesMaster" Target="/ppt/notesMasters/notesMaster1.xml" Id="R6e7c5b6b86c046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2887db62ae4bef" /><Relationship Type="http://schemas.openxmlformats.org/officeDocument/2006/relationships/notesMaster" Target="/ppt/notesMasters/notesMaster1.xml" Id="R4d6bd448bcd5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1c306665ab4da4" /><Relationship Type="http://schemas.openxmlformats.org/officeDocument/2006/relationships/notesMaster" Target="/ppt/notesMasters/notesMaster1.xml" Id="Rf8adf9dd5d664b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cf2afc9af94bb1" /><Relationship Type="http://schemas.openxmlformats.org/officeDocument/2006/relationships/notesMaster" Target="/ppt/notesMasters/notesMaster1.xml" Id="Rd3d636c5d05d43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cf1be241504f5c" /><Relationship Type="http://schemas.openxmlformats.org/officeDocument/2006/relationships/notesMaster" Target="/ppt/notesMasters/notesMaster1.xml" Id="Rc8ff257bb4f74d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67c79ac7e147c1" /><Relationship Type="http://schemas.openxmlformats.org/officeDocument/2006/relationships/notesMaster" Target="/ppt/notesMasters/notesMaster1.xml" Id="R38e91844ac8a40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35222a57d64127" /><Relationship Type="http://schemas.openxmlformats.org/officeDocument/2006/relationships/notesMaster" Target="/ppt/notesMasters/notesMaster1.xml" Id="Rb4c6788b07a04e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946d7e15644e11" /><Relationship Type="http://schemas.openxmlformats.org/officeDocument/2006/relationships/notesMaster" Target="/ppt/notesMasters/notesMaster1.xml" Id="R38079215960042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b2a07025154c63" /><Relationship Type="http://schemas.openxmlformats.org/officeDocument/2006/relationships/notesMaster" Target="/ppt/notesMasters/notesMaster1.xml" Id="Rb52a4e9d35e44c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d85299af304785" /><Relationship Type="http://schemas.openxmlformats.org/officeDocument/2006/relationships/notesMaster" Target="/ppt/notesMasters/notesMaster1.xml" Id="R4297ec493a184c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e637df8d4944c8" /><Relationship Type="http://schemas.openxmlformats.org/officeDocument/2006/relationships/notesMaster" Target="/ppt/notesMasters/notesMaster1.xml" Id="R2874cd9844424a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16b2e31c974e29" /><Relationship Type="http://schemas.openxmlformats.org/officeDocument/2006/relationships/notesMaster" Target="/ppt/notesMasters/notesMaster1.xml" Id="R1e661febfe1f4d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5ebad574684f80" /><Relationship Type="http://schemas.openxmlformats.org/officeDocument/2006/relationships/notesMaster" Target="/ppt/notesMasters/notesMaster1.xml" Id="Re19f0a4e460042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3adc9ff64b42ef" /><Relationship Type="http://schemas.openxmlformats.org/officeDocument/2006/relationships/notesMaster" Target="/ppt/notesMasters/notesMaster1.xml" Id="R3205f022b0d946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51cd636dad4a55" /><Relationship Type="http://schemas.openxmlformats.org/officeDocument/2006/relationships/notesMaster" Target="/ppt/notesMasters/notesMaster1.xml" Id="Ra56dd981420a4f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cff492fbf444ef" /><Relationship Type="http://schemas.openxmlformats.org/officeDocument/2006/relationships/notesMaster" Target="/ppt/notesMasters/notesMaster1.xml" Id="Re29174a6ba1b45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70919114684439" /><Relationship Type="http://schemas.openxmlformats.org/officeDocument/2006/relationships/notesMaster" Target="/ppt/notesMasters/notesMaster1.xml" Id="R0d7a8419c6f94c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39d3261ebe43a9" /><Relationship Type="http://schemas.openxmlformats.org/officeDocument/2006/relationships/notesMaster" Target="/ppt/notesMasters/notesMaster1.xml" Id="Re36159bb6d6548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0da724425c489a" /><Relationship Type="http://schemas.openxmlformats.org/officeDocument/2006/relationships/notesMaster" Target="/ppt/notesMasters/notesMaster1.xml" Id="Rfeae38b44e9b4ac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bf3a0a5c574e5f" /><Relationship Type="http://schemas.openxmlformats.org/officeDocument/2006/relationships/notesMaster" Target="/ppt/notesMasters/notesMaster1.xml" Id="R30706e5e38ba4e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7de6620d0814289" /><Relationship Type="http://schemas.openxmlformats.org/officeDocument/2006/relationships/notesMaster" Target="/ppt/notesMasters/notesMaster1.xml" Id="Rc146a4c9659a41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6af51295e64067" /><Relationship Type="http://schemas.openxmlformats.org/officeDocument/2006/relationships/notesMaster" Target="/ppt/notesMasters/notesMaster1.xml" Id="Rfd60a33d64ef44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本資料は、Excel版の画面項目を画面イメージとして再構成したもの。詳細な入力規則はExcel版を参照。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役割名は画面上で分かりやすい名称に統一。管理者は保守会社管理者、担当者は保守担当者と表記。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サービス運営者には、顧客案件や報告の閲覧導線を表示しない。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ヘッダーとサイドメニューは全画面で共通。顧客には社内メニューを表示しない。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ログイン失敗は利用者の存在を推測できない共通文言とする。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再設定依頼と新パスワード設定は別URL。リンクの有効期限は30分案。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サービス運営者に顧客案件・契約・報告へのリンクを表示しない。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管理者は自テナント内の利用者だけを管理。OPERATOR役割は設定できない。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顧客、契約、カレンダーはタブと別URLで分割する設計案。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公開後や期間開始後の条件変更を追跡できるよう、契約版を分ける案。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営業時間と休業日は期限算定の再現性を保つため版管理する案。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保守側の代理登録時のみ、対象顧客と顧客連絡先を選択する。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顧客向け一覧には内部の期限分類や個別工数を含めない。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顧客用DTOを分け、社内領域を画面だけでなく応答データにも含めない。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非担当の保守担当者は閲覧だけ。個別工数は本人分だけを表示する案。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管理者、担当者、顧客の本人宛通知だけを表示。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同じ保守会社内の送信結果だけを表示。原因解消後に再送する。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終了済み月を対象に下書きを生成。公開済み版は変更しない。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画面、印刷、CSVで同じ保存済みの報告版を使用する。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担当者には本人の工数を中心に表示し、管理者には担当別負荷も表示する。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操作履歴は管理者のみ。保守担当者には表示しない。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Keepia 要件定義書および画面設計書（第1版の設計案）。</a:t>
            </a:r>
          </a:p>
          <a:p xmlns:a="http://schemas.openxmlformats.org/drawingml/2006/main">
            <a:r>
              <a:t>主要フローだけを記載。例外処理と詳細な権限制御はシーケンス設計書を参照。</a:t>
            </a:r>
          </a:p>
          <a:p xmlns:a="http://schemas.openxmlformats.org/drawingml/2006/main">
            <a:r>
              <a:t>サンプルの会社名、氏名、案件番号、件名、数値は画面配置を確認するための架空データ。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4fb1cb6524c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571185b5a9482f" /><Relationship Type="http://schemas.openxmlformats.org/officeDocument/2006/relationships/slideLayout" Target="/ppt/slideLayouts/slideLayout1.xml" Id="R2b66dd4c93d846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66dd4c93d846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89f4cbf43456b" /><Relationship Type="http://schemas.openxmlformats.org/officeDocument/2006/relationships/notesSlide" Target="/ppt/notesSlides/notesSlide1.xml" Id="Rb35d80f29b8e42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0711608de4042" /><Relationship Type="http://schemas.openxmlformats.org/officeDocument/2006/relationships/notesSlide" Target="/ppt/notesSlides/notesSlide2.xml" Id="R3ce4b454ab2046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3c3d08c984d69" /><Relationship Type="http://schemas.openxmlformats.org/officeDocument/2006/relationships/notesSlide" Target="/ppt/notesSlides/notesSlide3.xml" Id="Rd9fa3372a34c48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a8e16542a484b" /><Relationship Type="http://schemas.openxmlformats.org/officeDocument/2006/relationships/notesSlide" Target="/ppt/notesSlides/notesSlide4.xml" Id="R9f81a7b539f743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8983b02f44b07" /><Relationship Type="http://schemas.openxmlformats.org/officeDocument/2006/relationships/notesSlide" Target="/ppt/notesSlides/notesSlide5.xml" Id="R5a220207e2fd49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14d2e719f4fb4" /><Relationship Type="http://schemas.openxmlformats.org/officeDocument/2006/relationships/notesSlide" Target="/ppt/notesSlides/notesSlide6.xml" Id="Rd9d0e2c9939b43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fd8ff7b094a3a" /><Relationship Type="http://schemas.openxmlformats.org/officeDocument/2006/relationships/notesSlide" Target="/ppt/notesSlides/notesSlide7.xml" Id="Re11af02315984f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7bce425c64109" /><Relationship Type="http://schemas.openxmlformats.org/officeDocument/2006/relationships/notesSlide" Target="/ppt/notesSlides/notesSlide8.xml" Id="R9d04325a4abb43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07d86b6ad49c3" /><Relationship Type="http://schemas.openxmlformats.org/officeDocument/2006/relationships/notesSlide" Target="/ppt/notesSlides/notesSlide9.xml" Id="R477d3ec4dc1f4f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aabb8115d4f82" /><Relationship Type="http://schemas.openxmlformats.org/officeDocument/2006/relationships/notesSlide" Target="/ppt/notesSlides/notesSlide10.xml" Id="Rb49860bae06b4f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67b10aaf1429d" /><Relationship Type="http://schemas.openxmlformats.org/officeDocument/2006/relationships/notesSlide" Target="/ppt/notesSlides/notesSlide11.xml" Id="R3448248bca3644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75d87d28f424a" /><Relationship Type="http://schemas.openxmlformats.org/officeDocument/2006/relationships/notesSlide" Target="/ppt/notesSlides/notesSlide12.xml" Id="R7a29bde8cb7e4d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b4fc0e7cb4c61" /><Relationship Type="http://schemas.openxmlformats.org/officeDocument/2006/relationships/notesSlide" Target="/ppt/notesSlides/notesSlide13.xml" Id="Rfef1c39051c240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08839a2ac4083" /><Relationship Type="http://schemas.openxmlformats.org/officeDocument/2006/relationships/notesSlide" Target="/ppt/notesSlides/notesSlide14.xml" Id="R05e0d569ecc74e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14d9b69324285" /><Relationship Type="http://schemas.openxmlformats.org/officeDocument/2006/relationships/notesSlide" Target="/ppt/notesSlides/notesSlide15.xml" Id="Re16c267ca1884f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bde1f1bed4a73" /><Relationship Type="http://schemas.openxmlformats.org/officeDocument/2006/relationships/notesSlide" Target="/ppt/notesSlides/notesSlide16.xml" Id="R3b1dcb60c9b146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4835fde6546ea" /><Relationship Type="http://schemas.openxmlformats.org/officeDocument/2006/relationships/notesSlide" Target="/ppt/notesSlides/notesSlide17.xml" Id="Rc9d38dce434044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65f38631f4998" /><Relationship Type="http://schemas.openxmlformats.org/officeDocument/2006/relationships/notesSlide" Target="/ppt/notesSlides/notesSlide18.xml" Id="R9d5a2c4e35d541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9f7f8e7ff4cbb" /><Relationship Type="http://schemas.openxmlformats.org/officeDocument/2006/relationships/notesSlide" Target="/ppt/notesSlides/notesSlide19.xml" Id="R470ebc0528b342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292ab7d894144" /><Relationship Type="http://schemas.openxmlformats.org/officeDocument/2006/relationships/notesSlide" Target="/ppt/notesSlides/notesSlide20.xml" Id="R76ed1a95b73c49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daccb13384705" /><Relationship Type="http://schemas.openxmlformats.org/officeDocument/2006/relationships/notesSlide" Target="/ppt/notesSlides/notesSlide21.xml" Id="R526cbe59652342e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f7da527ac464d" /><Relationship Type="http://schemas.openxmlformats.org/officeDocument/2006/relationships/notesSlide" Target="/ppt/notesSlides/notesSlide22.xml" Id="Redc08b00511642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5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88EDA-E8F0-4BBC-B683-4255C94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0B44D"/>
                </a:solidFill>
                <a:latin typeface="BIZ UDPGothic"/>
                <a:ea typeface="BIZ UDPGothic"/>
                <a:cs typeface="BIZ UDPGothic"/>
              </a:defRPr>
            </a:pPr>
            <a:r>
              <a:rPr sz="4050" b="1">
                <a:solidFill>
                  <a:srgbClr val="F0B44D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C3C94-3EA3-4221-B315-BCCD889B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49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画面設計書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DF558-E355-4723-8040-E89279B1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BD8E9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0">
                <a:solidFill>
                  <a:srgbClr val="CBD8E9"/>
                </a:solidFill>
                <a:latin typeface="BIZ UDPGothic"/>
                <a:ea typeface="BIZ UDPGothic"/>
                <a:cs typeface="BIZ UDPGothic"/>
              </a:rPr>
              <a:t>画面構成と利用者別の操作イメージ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1D9F2-9FD3-4098-A614-434DC2F3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9815A-A6ED-4DD0-B0CE-6C0B1CAE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0D7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0">
                <a:solidFill>
                  <a:srgbClr val="AFC0D7"/>
                </a:solidFill>
                <a:latin typeface="BIZ UDPGothic"/>
                <a:ea typeface="BIZ UDPGothic"/>
                <a:cs typeface="BIZ UDPGothic"/>
              </a:rPr>
              <a:t>PC版ワイヤーフレーム｜第1版・設計案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9D7CD-8850-4D26-84B6-16DFD170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96B0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8296B0"/>
                </a:solidFill>
                <a:latin typeface="BIZ UDPGothic"/>
                <a:ea typeface="BIZ UDPGothic"/>
                <a:cs typeface="BIZ UDPGothic"/>
              </a:rPr>
              <a:t>2026年9月</a:t>
            </a:r>
          </a:p>
        </p:txBody>
      </p:sp>
    </p:spTree>
    <p:extLst>
      <p:ext uri="{BB962C8B-B14F-4D97-AF65-F5344CB8AC3E}">
        <p14:creationId xmlns:p14="http://schemas.microsoft.com/office/powerpoint/2010/main" val="1701073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50431A-954E-4D9E-AD38-8756C587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資料の見方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81DCC-E049-4CFF-92F6-8CECCE01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12の画面グループを、17の具体的な画面イメージに分けています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AF590-DCAB-4FA2-8D4E-C3AA0289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5B75D-5518-4CF5-B2EF-354690D6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0EC52-1446-4A68-BFB0-BAD0514C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452437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B9EF5-2F3B-43D2-B8FA-7C08BF8D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95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9F265-EFD5-4943-8E40-A0769973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7C3AED"/>
                </a:solidFill>
                <a:latin typeface="BIZ UDPGothic"/>
                <a:ea typeface="BIZ UDPGothic"/>
                <a:cs typeface="BIZ UDPGothic"/>
              </a:rPr>
              <a:t>サービス運営者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68F6C-AC0D-4CD9-8333-C14CD059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保守会社と初期管理者を管理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92802-ED58-4672-BC10-0F0787D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452437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0C543-62CA-40B9-B223-D5E9FFB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95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33796-B3AA-4463-84A7-C44B8637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71675-D22D-4B66-B196-7BCFD4F8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利用者、顧客、契約、報告を管理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D365D-0070-4047-9BDD-F26B971B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452437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1040B-9518-4BB1-88FB-7ED5A2F1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95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AF7DB-4982-4243-B8C7-C05B0C97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rPr>
              <a:t>保守担当者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C5064-3FF3-4E5A-A145-02CCF7DD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問い合わせ対応と本人の作業記録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8DD98-5E1F-41DE-B4CB-EAF6EABF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452437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36172-446C-4553-BA8D-A323343F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95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0AA88-ECC3-466F-8EB2-AFD3D029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顧客窓口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F83DE-3FE0-44E0-B0E2-AF201B1A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自社の問い合わせと公開報告を利用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F0288-4E84-4DE3-9994-B57DE244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049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ワイヤーフレームの記号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5835B-9CF9-4352-B09C-E62A0677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入力項目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0F5AF-E43C-47A8-8910-F7EA477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66925"/>
            <a:ext cx="22479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4F227-6909-4904-B549-D0FC393D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入力例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BBFEF-FAE4-4CE8-89F1-070B2739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76450"/>
            <a:ext cx="15240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7BAE7-1F26-48A6-A83D-07A8FCB4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764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主な操作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F77073-2106-4B48-89A2-98C393E8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800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701D7-DFAF-47AC-B7BF-DC9A2B78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19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対応中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98FE78-2169-4E58-BBEE-F33B7FB1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19400"/>
            <a:ext cx="876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5B8547-A1CF-46B8-9F9B-DCB28EB7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194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DC2626"/>
                </a:solidFill>
                <a:latin typeface="BIZ UDPGothic"/>
                <a:ea typeface="BIZ UDPGothic"/>
                <a:cs typeface="BIZ UDPGothic"/>
              </a:rPr>
              <a:t>期限超過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87D3A0-6C0B-4606-AC3E-DE791994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53A6CA-4E0D-4C11-B49E-3CBED308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875DA5-B27B-483E-B084-563AB1D8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6235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番号は右側の説明と対応します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E52731-1CA7-43C3-8098-47B7BDC1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4481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954E5F-4EC8-4F90-97B4-EE02B9F8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62450"/>
            <a:ext cx="414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画面名・配置・権限は設計案です。</a:t>
            </a:r>
          </a:p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確定後にExcel版へ反映します。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8B48BA-A9BC-4C5A-88D9-05C81917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画面構成の凡例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42F1D1-9207-4887-9172-7ED739B5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37050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073406-D58F-49E3-93F6-ACC176BA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利用者別の画面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FFAB1-A9A2-4BAD-8425-80AFEAF4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ログイン後に表示するメニューと、担当する業務を分けます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120E1-94C1-4A3B-BEBD-86A77109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B502C-8F8A-4E6B-9861-A46A0353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92091-B985-4984-B723-D4A48EED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490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62A66-B1C9-43CA-BA65-03B30081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D8979-C5D5-4F56-B3D8-22D1A79F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サービス運営者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25C64-E49C-4654-9DF1-CE72353B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90675"/>
            <a:ext cx="895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5E492-295E-4729-9679-DF9D0590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90675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7C3AED"/>
                </a:solidFill>
                <a:latin typeface="BIZ UDPGothic"/>
                <a:ea typeface="BIZ UDPGothic"/>
                <a:cs typeface="BIZ UDPGothic"/>
              </a:rPr>
              <a:t>保守会社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C0A62-4EDA-4C17-AFB4-4BC22228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90675"/>
            <a:ext cx="895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39DAA-F8FA-447B-879C-3EA67AD3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590675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7C3AED"/>
                </a:solidFill>
                <a:latin typeface="BIZ UDPGothic"/>
                <a:ea typeface="BIZ UDPGothic"/>
                <a:cs typeface="BIZ UDPGothic"/>
              </a:rPr>
              <a:t>運用状況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C27C4-A2AC-42E6-8766-D222BDC4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86025"/>
            <a:ext cx="110490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D0CFB-300A-4320-B741-D6477148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86025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689B7-7317-4F54-8049-00798656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30203-157F-418A-A541-90A82303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19400"/>
            <a:ext cx="1295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0CBF2-9A1D-4E62-A259-6E1B7ED5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194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2583F-787F-4311-8013-DA7A59DC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990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81896-0B16-48E9-9579-2040A4A3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19400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7ADEC-0AA5-4213-854A-70D03E99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19400"/>
            <a:ext cx="990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ECF17-4FE9-4B32-B6C0-A82C45D1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819400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E9C03-6AFE-4F70-8177-1767AF2D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895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F9267-CD6B-4420-84CF-CD30AEC0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1940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EF32E-3C46-4547-95F2-2EBCE50B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19400"/>
            <a:ext cx="895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0F326-4212-428B-BED3-46033B85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D714B-8C09-4606-8738-180C99D1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895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B55E5-3BE6-446C-B487-47F8281B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1940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通知失敗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84222-B457-4EEB-9854-86D21D41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19400"/>
            <a:ext cx="895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C21193-6B34-4AAE-BA6E-442C7388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1940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F3404-7C4F-415C-A170-57BA2692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10490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185EA-1989-4362-BD26-8FB88522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244704-EF37-4D14-A867-F9851A26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保守担当者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6C204-7C0D-425F-951B-D37DB561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48125"/>
            <a:ext cx="1295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94C4A1-EB90-4E4F-A229-4A473E77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4812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49452A-C4E3-48EF-8AEB-31A0D08B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48125"/>
            <a:ext cx="990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C6BE8F-5779-4D69-885E-962DED3E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04812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7B9B15-EBA2-4694-8BD7-88EF55CA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48125"/>
            <a:ext cx="1409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4FD464-E240-468F-BB4A-ED9C9D42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04812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rPr>
              <a:t>顧客・契約（参照）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05C315-D5BF-4F75-98AA-61B50673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48125"/>
            <a:ext cx="1409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E9281D-DE87-48A7-B035-BC49E079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4812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rPr>
              <a:t>月次報告（閲覧）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8DA267-D34D-4616-A73F-848F133E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110490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7F8572-0377-4E28-B184-DD77D73F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5AC325-7C90-454E-A536-3DD388A7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顧客窓口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4CD47C-4E94-4921-B2D3-72069D8D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76850"/>
            <a:ext cx="990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A98CBF-34CB-4209-A8A5-6DD70FCA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76850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2DB846-CC9F-4F78-B865-D2C5A6EA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76850"/>
            <a:ext cx="1295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C6167E-B689-4C27-9CD9-FDF22CE9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2768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新規問い合わせ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69C731-DC4B-4411-A10D-761F98CD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76850"/>
            <a:ext cx="895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3BEB89-3025-44F2-B1C5-9D78D859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768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10C068-5ADD-4312-854C-5C8B7028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役割別メニュー構成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C7B2DE-7869-4BEF-9A51-90BCC039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9700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DF0E79-E51D-403E-A346-D9DDC7CE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共通画面構成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36B75-6A36-41B4-B3EB-E8CF074B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ログイン後は、役割に応じて左メニューだけを切り替えます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70E04-3537-475C-B7E2-23215322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4A4AD-0B6A-4281-A7AB-D168E88B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E8323-BC17-46EB-A814-2C97CD9A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47C85-9E5A-445F-8247-5FDAA15B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7D506-5B55-405F-AD75-4C35BB30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34A10-64AC-4B16-86F2-EBCC9EE5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27D91-AFD0-4DEA-B264-0A95A23D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E17FC-2C8C-4E0F-A5BC-48FAD321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FB569-753F-4F95-950B-3CE0059E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keepia.local/tickets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D4566-B131-497F-98AE-1450F59F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3C024-CA4F-4055-A5C9-12EB0C4F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5BAE9-05DB-4ADC-BE97-32459A79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A0B61-F849-42EE-A1FE-697C4213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7A930-021C-40BC-A162-B70DB6B3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17055-CBDC-4F27-9BDA-918AB1FF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D6D6E-B32B-4F6A-9713-5A8D7C4E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DEDF3-BB4A-46FE-9EC2-EB4538A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8C546-62F7-45DE-98F6-2EA3BDFF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F959B-3112-4F08-8466-1D044B94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0E28E-7D13-4E58-9FDB-A93F0804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2ED94-B436-48B6-8629-5AB6575D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通知失敗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0C69C-B68F-4879-9235-BDB359B4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11487-4B2E-45F6-BB83-B7FAB8C0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ホーム / 問い合わせ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4871A5-61E7-46EA-A902-F376B7DA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問い合わせ一覧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DE0BF1-120E-416E-9680-34C2467A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022DA0-4AA0-4831-8813-EA5E085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新規登録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658D6-AAD4-429E-AD64-8AFC6531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57500"/>
            <a:ext cx="708660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C43267-D4BC-457B-AC59-2BA0C53D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検索条件と一覧を表示する領域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AAFF5A-50A6-4E3F-82F9-AB07ED41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81425"/>
            <a:ext cx="708660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CCD5C0-5E87-4AB7-AE76-7534C2A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14775"/>
            <a:ext cx="670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主な情報と操作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0EB20-B365-483D-A0FB-41639569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24350"/>
            <a:ext cx="670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現在位置が分かるパンくず、画面タイトル、主な操作を上部にまとめます。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9FE55D-646B-48A7-9B71-DADCB4D6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81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5ADE29-7C4A-445F-B567-DB57CF70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81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80C5D9-89CB-4CE6-97F5-603BA869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479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2B1E7E-499A-4713-9CBD-EB8CC42E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479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269AD1-A991-45AE-B32D-E1C65290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BBA5B6-36AA-426A-8D0D-E62B7573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3D84D3-4D12-42DA-9007-50947B8B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7CFCA1-9903-4FAC-BBE4-716E66F8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267CAA-59DD-459A-B69B-1CBFD058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B0E26E-F8E5-4D99-AA06-9C36E595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3B8942-F769-48AF-A754-15233E9E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会社名・通知・本人メニューを常に表示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5FA791-8FF0-4364-8926-65143409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B43B56-176B-4EAF-97D0-E5CB8B2F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E362CC-0BD0-4DA3-83CD-3F8907C9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役割ごとに使えるメニューだけを表示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B4E853-1B4F-43DC-B4E7-A9DFE69F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E06EBE-B47D-4F0A-9347-45313389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9E5A9F-BA65-4B7A-994B-7690914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画面ごとの主な操作を右上に配置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A1C183-6807-4414-888D-CED55896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A2AA97-835C-493B-B67D-6603E226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7917B6-43D8-4146-8DB5-4472AC70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共通   ログイン後の画面枠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835B75-E306-461A-A0AE-FA64AB30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0177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1A0669-D17B-4BEE-8C03-B9E152DB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ログイン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7A82E-F702-40E2-93C4-B52FAA9F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全利用者が同じ入口を使い、権限に応じた最初の画面へ移動します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5600E-DE69-4AEC-9E35-D475DC91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B6355-22CD-4C23-95BE-06407A08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DA437-F196-4003-B51F-A2CC8D83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EEF3F9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7989A-CB4B-43C5-A54E-E4EF99C3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F"/>
                </a:solidFill>
                <a:latin typeface="BIZ UDPGothic"/>
                <a:ea typeface="BIZ UDPGothic"/>
                <a:cs typeface="BIZ UDPGothic"/>
              </a:defRPr>
            </a:pPr>
            <a:r>
              <a:rPr sz="2325" b="1">
                <a:solidFill>
                  <a:srgbClr val="10233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3CBB2-11E4-468A-B20B-5C417A8F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828800"/>
            <a:ext cx="403860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D621B-EB6B-426D-8142-828108A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33600"/>
            <a:ext cx="3295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3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ログイン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E0A87-3B6F-4303-A08B-43BBB111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71775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メールアドレス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5621A-7B7C-45D5-95A5-81C1836D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71800"/>
            <a:ext cx="31242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ADB3C-AA12-40F5-8A5A-E0B72F45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81325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user@example.jp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1241F-68AB-45CE-9B6D-F8B089AE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パスワード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D8E4C-6750-478F-97B1-949B0274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81425"/>
            <a:ext cx="31242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4C9FE-6FEA-4DF2-AF66-21F81A07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7909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•••••••••••••••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387D6-A0E1-47D2-8D6C-0A6EFD7E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3124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B50CA-69C1-4726-A505-A2317DB9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76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ログイン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1D9CF-AD77-40FF-BF2B-D85835E4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530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パスワードを忘れた方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8540F-CC81-4B91-BE6B-AD8EE0BE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908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2AD0F-0E88-4C3B-861E-74929429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908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B5B67-F061-40D5-96B2-5BF28C63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A333F-939E-4985-9C10-7D706790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954A6-D836-45BD-99BC-8A947DF5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AC07D-D409-4E9F-A738-7EC1A3BC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全利用者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0177C-C755-416A-9091-0965954B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17109-4573-4B24-9C1D-8ADB734C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16A06-6CAA-4E93-BAB8-879D0891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メールアドレスとパスワードで認証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3A432D-9AFD-460F-81D7-5DE2D70C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CF8386-3522-4794-8DE7-2970F821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1DABF5-620A-479A-8489-F806D20B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成功後は役割別の最初の画面へ移動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98C382-75DB-4F4E-8D59-085033F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F3749C-82E0-4C1B-AA21-5A4DB0F6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B566CD-F250-41C0-A5BA-EC6CAEFA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失敗メッセージはフォーム上部に表示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A94DD1-36F2-4215-BF43-0961B26D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D2D46F-EA20-49CA-B8F2-BAE4C141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9C8EA5-000B-4EA9-95A2-494DB953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SCR01   /login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78420F-665A-45F1-914E-4247A862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43302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91E478-9963-4C42-816E-E14A4C00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パスワード再設定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97E5B-293D-4E7A-B9CF-ED8046F0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依頼画面と、メールのリンクから開く設定画面を分けます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D7F31-5ED4-4E2F-A324-E5D49E42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3B0FC-DF81-445A-8DE4-96478D63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A75DD-6E4F-4620-A19F-7BE56CA0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23975"/>
            <a:ext cx="4210050" cy="438150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DE154-A309-4982-8D94-6E721891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再設定メールを送る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1573B-47C8-4D25-A49C-2A158D53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907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登録メールアドレスを入力してください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A40FA-1FA1-4FEB-A593-E9853891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メールアドレス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EA49A-EAF5-42B3-8E27-C231070B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32575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8B837-7C4B-4162-A1BD-B1CABFCF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user@example.jp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EBCCB-0209-44EC-9771-1D7B80BA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3257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0B04C-D2E8-4FD7-9218-025903F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再設定リンクを送る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127BE-8144-45BC-9D94-E4FB4061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148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登録状況にかかわらず、同じ受付メッセージを表示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E601D-B37F-4199-B09C-403B7162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23975"/>
            <a:ext cx="43815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EDF9E-8E75-4A20-8AC2-9C49F65E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859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新しいパスワード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E4DE3-E147-438A-82C1-69005CEE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新しいパスワード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F2995-700C-428E-A353-3CC26B54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76525"/>
            <a:ext cx="3429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F80D1-DB61-46BC-B55B-4C78DD0C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860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15文字以上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BC337-A4EE-4CFA-9906-C297FF9C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確認用パスワード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B9E88-25F7-4228-8F99-EA453BBE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33775"/>
            <a:ext cx="3429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F4365-BE27-4DE5-9762-87AC6F3D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433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同じ値を入力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1F955-DC80-45B5-A98D-E4A96F09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24350"/>
            <a:ext cx="34290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DB3C9-A80A-42FE-BC78-E6690239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243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設定してログインへ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B516B2-6C66-4299-B52D-D62B96D0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289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9B9FA8-A439-4F36-9ED6-7C5A5009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289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A6B5EE-E89B-4E31-9928-15F5CD09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3528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48BF0-A8DE-4EC9-94C0-4B7C9BBE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352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828E7E-7F84-47EA-9441-FCEF4A0B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8ACDD1-2700-4478-B53F-717C0E89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全利用者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FDDABF-E8D0-4B96-AAD9-6D30296E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6859BD-DAD7-403E-A0C0-C7DC67B1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094ACD-508E-4151-9F2E-0145AB2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依頼画面はメールアドレスだけを入力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2A87A7-19C1-4317-A38B-CE9E2DD8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69ADEE-DBA4-4928-AD32-02196E7D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1854E4-D202-4D1C-9611-46E0D870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設定リンクは30分・一回限りの案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2325A7-D985-4439-9F2F-B29E300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5E4E0F-D14A-4EAF-A021-FDC910D7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D06143-D9A9-4D6A-84C0-F478FFCD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期限切れ時は再発行を案内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C0DB86-85A8-4A6E-9AC0-E4273728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54F4ED-48D8-43A4-B82A-71CC105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B49F02-929B-4E9C-9130-B2EEDA15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SCR01   /password/reset   /password/set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0C9733-8AB4-40E4-8403-060C3129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1742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B1A943-0770-45D2-8436-0220DD60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保守会社管理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F817C-B6BF-4DC6-B7CF-A8D74BB1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サービス運営者が、利用会社と初期管理者だけを管理します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1905D-7BDF-43BC-84F0-9BAE462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6F54F-9F9F-487C-A002-E2FD97DD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421C6-6A89-499B-B44D-FBF4EF1E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9DFCC-33A2-40C3-81CF-E69ADDDC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E917C-6972-4E36-9B55-9E41565F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9FB75-AA2B-479C-A823-18E44B47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7DEFB-03CE-49BD-85EF-5F8FC34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6FFB9-EB37-44A5-BD2C-B83AD066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5D1CA-252A-43BD-8098-DAF2F254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keepia.local/operator/tenants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BEF8B-1C9F-4785-9F93-1329C7E0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0BFDB-B6AC-47E4-8258-58AC0CED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C8D9F-7338-46CD-B630-E91071CD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F9CC2-A43C-4570-B94B-6A2530A9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8CD91-9DC2-489E-A1CE-D26A5CD2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77A92-788C-49C7-8ED0-A098F5B2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ED41F-2EBF-4275-8E3D-4CFB60AC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保守会社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84471-C9E2-40CA-85E3-49B71356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運用状況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F9907-3525-4D90-B422-3491C1B5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運営管理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FEC4D-85DF-4413-A423-4D9C9A31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保守会社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7B9DC-6FC4-4160-AD72-4F6442B6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175B8-4CC4-4300-A6EF-A433676E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会社を登録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7D656-C653-42E1-80F8-567DBBDA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95600"/>
            <a:ext cx="57150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9194D-B6C9-47B3-9355-98B9EAD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8956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会社名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4050CC-BBDE-4746-9A2E-F16E6C10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9560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状態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8BD601-C9E3-47CA-816F-2242677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9560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初期管理者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9015C9-A12D-4667-A7F9-72ACB6B4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操作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626EA-30E2-4711-91D2-2CBFC0D2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90875"/>
            <a:ext cx="571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690004-FF00-4A03-BCBE-FEF2FF0C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90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6051E1-C214-4832-992E-EE119934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908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AD8850-AEFE-46EE-9991-0F2BFC7C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908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佐藤 花子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3A3969-C1C5-40F7-A6F0-D5E49B19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90875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詳細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04BEF8-F2B2-4383-9D83-9327CCC6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33775"/>
            <a:ext cx="571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37AF6E-0C44-4C8F-AD1C-19F911EB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337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Bメンテナンス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4A645D-AFFB-4489-9CD4-BC7E2F69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337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56B87B-4ADE-4AD3-8E6E-6E4BD626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5337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田中 太郎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0E04C7-BB51-426E-A1D2-3A5AED1F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33775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詳細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D25217-980C-478B-B384-3CCE9070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76675"/>
            <a:ext cx="571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1AA3E3-9DCC-40E0-A569-9DAD162B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8766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C設備管理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155982-49D3-4B9E-900A-28FCDFC8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8766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停止中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F07370-808E-4968-B505-DAC19FFB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766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鈴木 一郎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9F115B-B802-4026-8FFC-12BED681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76675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詳細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E81381-4249-43C5-AD8F-111569D7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81500"/>
            <a:ext cx="2857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C4AA93-EEE3-4F54-B4CA-31E9F221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7C3AED"/>
                </a:solidFill>
                <a:latin typeface="BIZ UDPGothic"/>
                <a:ea typeface="BIZ UDPGothic"/>
                <a:cs typeface="BIZ UDPGothic"/>
              </a:rPr>
              <a:t>会社登録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94BEA9-5637-4242-9CE7-69A78438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81965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会社名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DB0DF5-E74F-4711-A99D-01977AD0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019675"/>
            <a:ext cx="2428875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995054-F546-40A0-A892-AEDA7DC9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029200"/>
            <a:ext cx="2276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D保守サービス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04CDDA-D207-4639-9886-0D07DB4B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38162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初期管理者メール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7B2336-E1A0-4759-9E32-274D46CC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81650"/>
            <a:ext cx="2428875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7B4CA2-2D94-45E6-BE62-2839D6FC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591175"/>
            <a:ext cx="2276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admin@example.jp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E74DB3-1835-43E9-B3AF-CC62CF3A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B65805-C886-42C3-A9F2-432B478A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560A2A-FF67-484A-B9FC-A9209777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529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27498A-120B-42AF-B8B0-785A7D8D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529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BE69C3-D5ED-4BAE-A05E-9CCBBAC5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CAB97A-1CC7-4064-9991-8CA72AA8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サービス運営者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6EAEF9-4D6C-4BBE-8905-CCF60BFA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46D6E5-B523-4B7C-8C81-D75FCCC1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1024F5-A1DA-44C0-A086-4D146C30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一覧では会社の稼働状態を確認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A730187-6932-46D7-AD4A-E9AF196B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54EDE4-E045-46B3-B1A4-DC798839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E3EB74-FECC-42BA-A2AC-C480E388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登録時に初期管理者を同時に招待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91B24D-B7A8-4F4F-931F-0DDE2D55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316E27-70D3-4B41-B96C-0E5ECACF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FA7E04-31D9-42D5-B622-010C8929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停止・再開には理由を入力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CB53272-FB7C-497A-8B3B-38A9890B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D397E32-F532-4EA5-8148-94ABCA83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EA87BB-7402-410F-B1CE-B73BF788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SCR02   /operator/tenants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AAFF509-C2F4-45F3-9211-22F1A14C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57289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3B8752F-C6F6-4207-85DF-5F3FB929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利用者管理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F2487-0FB8-4473-908A-4B300AE8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管理者が、自社の担当者と顧客窓口を招待・変更します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E6E72-840B-4C9A-81B3-20E44AB2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60498-059D-4029-A546-32053144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4AA01-69A9-487E-83F3-D1BCBECC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2E6E1-0358-4041-A6A0-D3782672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1E081-0B52-4357-A5EB-D967CDCB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9EA78-BB0A-4682-BC6C-24C42C13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2C1F1-8B88-4341-BA01-2D7C52D2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972ED-DE30-4768-9C12-48AB66A9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5ABF9-FE6C-4F99-9480-111EDE03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A8462-8C92-4E32-9B67-6D9F6707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1F680-37D4-4FCA-8AFB-E91A50AF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5253C-7ECA-4A14-9EB3-871D7FF8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9A7DC-5345-4635-9F73-99A309F6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5C8F0-3380-41B0-8F2A-5693F57F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D279F-67FC-4B0F-914B-DF4681FF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FE374-6410-4307-935A-BFC4D41B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C5326-6BBF-47C6-9DAE-9E57A817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F678B-C556-4368-BFDF-6677C4FD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3AFAA-4037-4696-ADEB-7EC71ACE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984D0-836D-4552-AAF2-B56AE608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F98BD3-8CEC-47DE-8314-469381AB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通知失敗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1AC47-A1CB-4CF6-97C1-546D05A2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F5406-FA34-4874-B778-B0621229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設定 / 利用者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6BF079-0838-4A85-8406-4E048D21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D21A4D-1AB8-4823-9DB8-61A5A092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9DFCDC-8095-4CC2-ACC0-A73DCF58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利用者を招待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7F105-31A7-4D9B-9875-2F53A68B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57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検索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BF0BC3-C424-475D-8EC4-F2ED6751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57525"/>
            <a:ext cx="219075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F750D0-3896-4D96-B25A-32DBD48C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670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氏名・メール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EE724A-7005-457C-A99D-9301A064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57525"/>
            <a:ext cx="11430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F2BAC0-621A-499E-9807-82654CBC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役割：すべて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580931-91C1-456E-A51F-42BC7E67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81400"/>
            <a:ext cx="57340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90ACAE-83D7-4CCF-9D52-B628A08B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81400"/>
            <a:ext cx="1219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氏名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0B0A5E-79A5-459A-BE27-5330D1BC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814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メール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EB67B3-EDD5-4894-86F7-CF2498D3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581400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役割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55F534-9774-4F03-A615-C0A115FC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81400"/>
            <a:ext cx="104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所属顧客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1B95BD-F9AE-4AE8-BF9A-6CE60B39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81400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状態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4B8578-1D1B-4E80-AEDE-D90ECC84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76675"/>
            <a:ext cx="573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C166C6-BCCB-4879-9869-44464BED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876675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佐藤 花子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9AD0A8-2424-4AEE-B1B0-835B0748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8766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sato@example.jp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455FF0-F6D7-4ECD-9182-53CF64F9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876675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管理者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5AC2C3-70F9-40FE-8B59-43BE6348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766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03FCAF-44F8-438D-832A-008852C4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76675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5F3A70-D0E1-4138-8B31-043AA39C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19575"/>
            <a:ext cx="573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F956E7-C13E-4AFC-8AE3-A7B93F3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219575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山田 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A3D8D0-3906-46D3-82B0-CB9F897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195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yamada@example.jp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944FB1-27E5-49CA-B889-1A219084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219575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担当者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B8290F-F592-4A63-BEAC-6FABC9D3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195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E38689-D21D-4F4E-98DE-F4C26A66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219575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7533A9-A883-4DE2-914A-1D84B457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62475"/>
            <a:ext cx="573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B5EC8F-4906-4BE2-A092-1B8A6831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562475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高橋 美咲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81DC5E-836A-4856-B43F-7B537348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5624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takahashi@example.jp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027945-C0C9-4CF5-B1D6-F9830130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562475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2B13B0-0AF6-4355-BEA7-FA4A8FE0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624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東都商事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B7602B-F39E-442E-B143-D07B0B6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562475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招待中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EE7D98-7AB9-48C0-AEC9-7FBECB7B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810125"/>
            <a:ext cx="2724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A22E10-85CE-4811-B6BC-57DD1EAC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863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招待・編集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91DA98-C9C1-4C91-B07E-BC7D5820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91125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氏名 / メール / 役割 / 所属顧客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DF976C-857D-4852-9D4C-325A6412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62600"/>
            <a:ext cx="11906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79425E-1DC3-4167-9BE8-F959B18B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確認へ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4C1FA5B-16ED-4D57-BEDA-C2501526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57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929624-DCC4-4C14-BEB6-0680B6DD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574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4E2D49-5CF4-4E37-9E2D-ABFA11E3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433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87C673-C5FF-466A-98E0-69A6B3A0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433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5DB6E6-862E-40F1-80B6-CA145A43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30D6939-96E1-45FE-9496-9BB23D83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F42686-6BE0-4443-A4A5-F411A96F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A15928C-C4C0-44C1-978A-50AA90D8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D8504E0-3512-4B57-922D-5FD79608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新規利用者へ招待メールを送信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AFF7CA4-664C-413F-817C-6FA80CF0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DE4D091-37F7-4D64-8839-09CE408D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4C4BCAB-2452-4F2A-9896-54BC2AF3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役割・状態・顧客所属を一覧で確認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F398B0-46C7-411E-BAB3-F7256115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D3B0C72-92C3-4AA8-B7E7-B7FE0360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920654B-7445-43EE-BED2-6DD77B8C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変更内容と理由を確認して保存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92E3209-3B4C-44F8-88EC-85B5406C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F1C2BEF-58A9-427C-8C34-33AB565B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E1794C-3581-4ADB-9659-201D6CEB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SCR03   /users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8DAEDB2-0A07-4E6D-B9B7-038AA736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7809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BDF4B4-2DF3-4988-A730-1A979D59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E8106-911A-416D-9067-7A8B68DD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顧客企業を起点に、契約と営業時間へ移動します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75A4C-2FB0-4E3F-8034-1D24CC43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C2D4D-0C8B-4AC9-B23E-2519E136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A38CF-B9F2-4338-AD03-9361AA5F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89098-3FD7-40A5-B6B9-C548D3EE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D727E-1D2F-484E-96FF-3D0DACB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EFBB1-5300-481F-A022-DAA176DB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202A4-4CB7-4AAA-A7DD-69FB468F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5EFE9-1E7A-4E01-8271-945FB1D7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7E751-8C76-486B-9633-D5C1BF24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keepia.local/customers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B4C36-5499-4C1A-BCF6-5B6DE4E8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AA170-9213-4A1A-BC33-5733C72B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466A2-5907-4067-AD75-326ABD03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582C5-ADD7-4C8E-BBCE-1860ED10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96F47-6CF2-4743-83EA-46891830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CF9B3-E188-4CBF-8ABB-AEAA6629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635F1-DDE6-42EE-8A16-76571216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3F8A4-EC02-4AB2-BD2D-2153881A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D0872-92C4-4087-9129-5E8C9FEE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C1163-10CD-4BDA-836D-6F3BFD43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0BE28-5E43-4580-961D-3479768A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AEFB1-3BB3-4E93-9277-08342801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通知失敗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07E39-EF8B-46E1-A26B-C920B0A0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5720B-7E0F-48FB-8E3E-96EAB6E7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E229E-B8FA-4176-BF44-6C8D6432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08519-2D86-47B0-9D59-F804906B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966646-1EC7-4A67-A6DD-01474E8D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顧客を登録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D42DC-B6F9-4CE8-9277-CFAC4037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13811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B0889-5E7D-44E4-B7D9-14BF085F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顧客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1FA31D-EFC3-4051-AF22-1FF2DB92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81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契約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50A38-9797-4A27-839D-895CD998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営業時間・休業日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A9069E-FD19-4896-AB9D-F14F9A1A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67075"/>
            <a:ext cx="58102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66EED5-DE9A-42B4-80B3-A8476CF2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2670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67466D-8D78-426F-A51C-0EE1E274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67075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連絡メール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CD6F69-C995-4729-9290-4E0BEB6B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670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状態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8BEBB2-CC38-4317-8DFC-2368B315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6707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契約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3BC3F9-8FBD-4C79-BBE4-E9C504A1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62350"/>
            <a:ext cx="581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D5023-C0AA-4D5F-B20D-C5F5F2DB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623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東都商事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6E2A19-A46E-457D-A844-1FA57869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623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support@tohto.jp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B2A22F-D280-40CF-BDD1-8B27F3F4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623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4173DA-F26B-4773-AB26-B330626C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207CC7-1E83-4053-B4FE-66D70488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05250"/>
            <a:ext cx="581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E2C937-4620-4A1E-823E-C6D34CF1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05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北星物流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35317B-72B4-419D-AC01-F16CB716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9052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it@hokusei.jp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402635-F9E1-4543-8DFE-5BA97B1A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052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AC75A5-ED19-4A20-B663-74B5579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1件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27D6A3-545A-47D3-92C7-D29FE028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581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E04EC8-9AAC-4651-A532-D03170CB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2481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南海製作所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1A8262-5C49-44DA-8ECC-3529FFC7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481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help@nankai.jp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86BDB7-0BCA-4293-8782-1B943199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481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停止中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C75B96-BDA1-4E08-89FA-7B938FCE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1件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FB8866-CBAC-46D2-A7D3-3F08CEA1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72025"/>
            <a:ext cx="581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3DF8E0-5E86-49C2-9A21-0FE0DBE3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577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東都商事　連絡先：03-1234-5678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C63050-DDE8-4905-9303-D310448E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387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契約を見る　｜　顧客窓口を見る　｜　編集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3D69B5-AB11-4287-806E-6F728BF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003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0C05BF-942C-49C1-8AB8-731B4C03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00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3679E7-26CC-47E0-B560-F836476E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56F111-8A89-4D05-AF5B-AF9B480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C6DFA0-7794-4263-99ED-F8B835CD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EAD44-F86A-4656-A716-465650B0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42949C-36C6-4949-AC91-D3A38254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0A8262-D360-4BC3-8B45-CAE88763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71E7D4-7552-49EE-9C92-FD49C4D2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顧客・契約・営業時間をタブで切替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490107-61C8-4817-A734-216BEF93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A04AB6-040A-48AA-896B-D1969AAC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888869-9913-454B-A015-64C196C5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選択した顧客から契約へ移動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BED09D-BC99-4B82-932A-30EC0137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24C784-9E0F-43E8-82EA-330974E3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065FC75-7E87-44FF-A430-2C561E79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担当者は参照だけを許可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12F15D-58C2-4C51-B3D1-9C2A2FF9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90D9B2-A243-4741-B59E-80589822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03EA42-2742-4903-A393-F7F41EE9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SCR04   /customers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7C76AB7-6361-4B8C-A649-50BB28E7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80448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85F276-7F69-4B94-9BDD-57963700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契約管理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4E40C-9A9C-4B64-AB2A-8B563614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対象サービス、期間、初回返信目標、営業時間の版をまとめます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F9489-3F4A-4D45-96EF-392F5CCE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558EB-1531-459E-8226-74AA87E0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68CEA-19E8-4B3F-A475-DE9084B3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31ECD-B230-4B87-8A96-013FE366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CC7A8-6341-43E0-A246-E932EAFB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2B415-FBA3-4BA6-BD14-2689A091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7557A-ED09-4ABF-B654-B354D1F1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9E990-0B1C-44E9-A104-6A41195E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41CF2-D39E-4A1A-86EE-602E96C8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keepia.local/contracts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6DD12-3708-4987-806A-751BBD81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FB936-F372-409A-B994-1E83AD9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6FCC6-86AB-473F-AF21-AE98ABA5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8D29E-7A8B-4E4A-8EDB-424CAE8C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AFE28-5EB5-49B8-BA54-A5CC758D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31D1B-96A6-4B7D-B5ED-859CA767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709AE-63BF-4EEB-B998-D5D7A5C3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F91C3-361B-4363-9F95-E1C70C5E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D824F-A263-4F11-B29F-E665B52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6BB25-EF43-49B8-B878-BB0DC9DA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BF406-288C-4ED9-891A-978C924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C572C-725D-4493-806C-2DE35ED0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通知失敗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B5565-7A9D-4CED-9936-BEEF0EB9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E72D4-F782-4D9F-90E5-BB586CFA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顧客・契約 / 東都商事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A8B639-C863-4C05-8D16-01666F45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契約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BC514-ABA4-4DF0-A113-CEB2183D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5EF484-12F4-435E-A328-7A1A3177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契約版を追加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AEEBF-CFC4-43EC-9D55-8999156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20E22B-E2E2-4A85-9E4F-BE4271D9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13811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875EBE-AA0A-4630-984E-25A637B2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81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契約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F73E6D-6B6A-4412-90FA-E39C14E5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営業時間・休業日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C0C8F8-148F-47FC-ABDD-2962BA7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67075"/>
            <a:ext cx="639127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8744B8-816B-4CE6-B5F1-126EA7F4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26707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対象サービス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7EC5C9-56E3-4F99-8751-B14170E5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67075"/>
            <a:ext cx="1285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開始日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7EA965-E237-4B97-8B15-693DF80C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67075"/>
            <a:ext cx="1285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終了日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CCB98C-B58B-4F5E-AB14-56C32AB7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67075"/>
            <a:ext cx="1009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返信目標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5BA01E-981B-45C4-BFB8-ABB2C4B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67075"/>
            <a:ext cx="80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42231C-7891-4A56-AD35-020ACCFF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62350"/>
            <a:ext cx="63912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2ECD4D-E2A0-47F5-92C3-060517F2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62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設備管理システム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981152-6D67-426F-81DE-24ED5A8B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62350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2026/04/01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6772CB-E9D1-46C1-AFAB-A312322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62350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2027/03/31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77CAC1-2015-44BE-87F9-F143C16C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5623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120分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C9780D-0C8F-47BD-951E-58A33CA8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62350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v3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608D65-9938-440E-9C00-133048DF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05250"/>
            <a:ext cx="63912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E4158B-804B-492C-9C6D-2B2C0BE2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05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定期点検ポータル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6C1E48-6914-430B-8761-EBF4FD28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05250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2026/04/01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D5C1F5-AC87-4C4C-9166-AB261769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05250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2027/03/31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C0E764-9645-461F-B5A8-C98F7CEA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052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240分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8AF010-6D1D-48AF-A826-F8FFB49B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905250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v1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FC8A6F-E8BC-47A7-A8F6-7ADD593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67225"/>
            <a:ext cx="6391275" cy="1209675"/>
          </a:xfrm>
          <a:prstGeom xmlns:a="http://schemas.openxmlformats.org/drawingml/2006/main" prst="roundRect">
            <a:avLst>
              <a:gd name="adj" fmla="val 5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B13DCE-008E-4468-9920-AC9FA524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52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選択中の契約版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7F7BC3-3A58-4B96-853B-E9BC78B7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57750"/>
            <a:ext cx="6000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営業時間版：2026年度標準　　適用開始：2026/04/01</a:t>
            </a:r>
          </a:p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契約対象外でも受付可能。対象外の注意を表示する案。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8009A7-8B62-44FF-998E-4980EC18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57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353D09-DC0E-4E9F-B914-009A08B1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574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0B8464-9445-496B-A121-DA9B853B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71EC9E-4803-4F02-B7B1-7E78F36F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C8D50F-EE61-47C3-8C91-B7EBAA5A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58A211-EDA3-4B5C-86C7-7932C943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5CA4A1-4501-4FE5-A5F6-0FD93E4E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FE050B-0AF1-410F-8251-8D8487E7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51085F-8667-4684-B8F5-8566891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77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契約変更は既存行の上書きではなく新版を追加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F73771-7344-4B21-A365-9629C30E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62101C-5ADE-43BE-9FF5-A964C570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36CAA8F-FDB8-4829-9A20-E2427F10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77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問い合わせ時の期限計算に返信目標を利用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A52A27-1C82-4147-9A12-69A810F4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9B4286-502F-445B-9227-2FE29F33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E0B151-A2F7-494D-A2DF-463E678C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適用する営業時間版を契約版に記録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8B51CE-7ED9-47F2-8A5F-7F1BFBF2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9F3636-C521-4920-8B2B-24B8494C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CE544A-9269-405E-B187-0801DB1D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SCR04   /contracts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34A992-80D6-429B-ABF6-179F8F01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72532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59507A3-9B59-4C8B-BDA0-85F18220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営業時間・休業日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9C7E1-1260-425B-9A87-CC315E12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期限計算に使う曜日別営業時間と休業日を、一つの版として保存します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97237-A443-434F-B827-566ABABE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783A8-59E9-4886-A163-E284FDF1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77CA2-F0A0-4FB8-81B4-D6CA1E37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A2EE3-8258-4BEF-B9F8-28255AE6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8B97F-E510-4C48-99AF-CEA0CE38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E96E9-B9D4-4A9E-B22A-16A4D403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BE32B-8306-479A-AA31-347D7F74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A7612-14F6-470B-A248-6E4AF221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856DD-5AD0-4DDF-859A-5EF58907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keepia.local/calendars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4326C-5C45-4666-B330-53513E5C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EB47D-2BEC-48D4-8738-4454DBC4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29354-C0F2-4813-8DE4-E99CC8D6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53CF-52A5-4C3B-9C01-39A174EA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0DB16-3755-4678-BA52-737D0E8E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84123-F022-4598-B3D1-1508A05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B1056-4002-4314-900C-5B909E65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40638-B9F8-41EB-B42C-C5E36CA4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FF8FB-29C0-4F50-B5EF-1D77CDAE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85297-DECF-4AB5-9CFE-5007F84A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CB471-7CBC-4A1C-912A-A810150C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33851-5A34-4506-AED5-7EB7DCCF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通知失敗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C42673-FCDA-4A7C-A20A-ADD1C392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8E66BC-B87D-4549-9663-F5E1C873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D2CD5-6274-4B00-9032-FB5B96A9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営業時間・休業日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2E996-7F36-440A-BDB7-D65785AF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1F9B4B-035F-4A87-A539-0F9C7E22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新版として保存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07F0CF-F212-4615-8C31-1E1A8F08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60F7B-1051-41BB-8340-A3C763D1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81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契約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42E4C0-0765-415A-B521-6E7B5F6F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3811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373FC5-EBBD-49D2-BE34-06432FCB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営業時間・休業日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0CE92C-B6EA-49D2-82E4-4FE4B08D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2026年度 標準カレンダー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FAC7DD-13FA-4EC7-ADE4-96D540C7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90925"/>
            <a:ext cx="416242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5E2886-E6CC-454F-8A29-5E55C76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909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曜日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60D9FD-FFBD-4428-B4E7-228A9BA3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9092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開始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96A597-0C53-46D2-89F5-3D6D9580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9092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終了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1DF446-D2BC-4FEB-8E39-33169504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90925"/>
            <a:ext cx="742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営業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38537D-0D4E-48A0-B726-C7754612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86200"/>
            <a:ext cx="41624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369344-1C67-4BD9-B7C4-83C8461C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88620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E8E3B3-AEBA-4451-AF72-3B863EE9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86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09:00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212610-4664-442A-BAA4-4F6A749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86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18:00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25C611-FAD6-4BBB-BE10-0C8CED64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8620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34ACEB-26B6-41C7-B24B-EE3E886B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29100"/>
            <a:ext cx="41624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734FB2-3DAE-41BA-9F70-922A3B71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22910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火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B740AA-75B9-48EC-9CD7-7FBBD93A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291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09:00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85AC9B-A686-4083-999D-33549E1F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18:00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FD0FC2-B649-4757-82EC-79525D6A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2910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32C3B0-E2A0-4283-9050-65276712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72000"/>
            <a:ext cx="41624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003300-FC8F-4C2C-A585-DD713DA4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57200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5D909E-4513-45EA-A51A-9B0993C1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720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09:00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DADA96-719E-4570-8F53-BBFFBD2B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720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18:00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102279-D6A9-4044-B6BD-94A47DCA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7200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FA7410-B9B9-41DA-A06E-B17BA494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14900"/>
            <a:ext cx="41624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0DC8DC-68A1-47C6-BF12-6FE6D124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91490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土・日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A7359E-D2EB-4B88-8F11-CA84BF0C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149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―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87A482-366B-4077-AE16-10A1AE4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149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8F847E-ECD7-41C7-B417-C1946030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1490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休み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AFA524-1D28-4A0C-BE2A-9EA65A4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1952625" cy="1809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1B4D72-3069-4950-8152-9D25E80A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861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休業日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0D6BB2-A400-4CD0-A761-7026F08E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86225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2026/05/03　憲法記念日</a:t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2026/08/13　夏季休業</a:t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2026/12/29　年末休業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0E7F04-E432-4793-AF51-9D6ED2ED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038725"/>
            <a:ext cx="136207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6DDE5E-6D9F-4BBA-BF0F-5E082A3B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387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休業日を追加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AF9424-5B04-4C1B-AF77-120C1AEC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57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E044C8-525C-4C10-80C7-DAD06ED5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574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90EEE8-7AE8-44B9-84D2-52BF01CE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DF311D-FC91-40E2-9BFC-D2B90CA8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2AFE80-77FF-4C2B-80D4-73F4F6C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A8C5E9-16F8-47A6-82EA-A80AFE42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6A20BF-B97D-4F49-B7EF-E5D733A7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EB3770-3803-48F3-AE0C-6D490F1E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C77743-0E30-43BE-A3F3-9DF0678A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77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変更は新版として保存し、過去の期限計算を保持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211039F-83FE-410D-A0C6-0B24FC31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00F5C6-CF44-4324-81E2-9C588CC9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6DB53B4-98A5-47CD-BEEB-A575C4F6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曜日別時間と休業日を同じ版で管理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6C851E-8840-404E-96CC-6D0293F6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881162C-101F-4658-9E10-918B1431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962466-33E4-4B76-AFDA-A9286DD4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契約から使用する版を選択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B4DD0C9-10FF-49E0-85E6-56715E98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C9E93F-D601-4A03-997F-056CF07F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C85606-AB82-4717-B553-A7F62A87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SCR04   /calendars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9CEB8C5-09C5-4D0C-A528-35CAAD84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64974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43F907-F6AB-4C13-A3E0-14A9BB4C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問い合わせ登録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14CA8-BDDC-4889-B5EF-881F192A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入力内容と契約状況を同じ画面で確認してから送信します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6E700-F6E8-4BD9-A1AE-AFB9E94C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FAC66-FDD3-4E34-A9A4-8629DDB5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E1A13-0D74-403D-B980-4583A284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CC815-BA18-434F-8396-AC8AA5D9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C82C3-8CEC-4035-87CD-4FFCD36B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29B89-BB89-46FA-B73B-6B7312A7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ADAB-40F3-4C7E-8064-592F8654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D3696-25E7-4C4F-9087-AA4B274F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E782C-C995-4B1B-91C9-DC509DC2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keepia.local/tickets/new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21EC8-20AD-495F-9A86-2E790CA5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C8E86-8010-4303-9677-70F15AF4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5874F-0C96-4175-A55D-352ED558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BBDFE-9BF9-46B8-9CFD-90B432CC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A101F-7228-48AF-A647-B643BEDE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2650B-4C8B-419D-9881-89D57785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4A5FD-733D-4153-A89D-441471BD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EC34D-AF21-4665-977C-29CE015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新規問い合わせ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13E58-6D31-4D2A-9F4C-341EF03E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763D6-1A09-4FF3-AC75-F44FF976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68DE7-4776-43ED-A610-78952A35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新規問い合わせ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0DC94-C332-4F81-BF82-A8E347B7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件名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5699D-E58E-4435-A425-CBBBE1F0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81325"/>
            <a:ext cx="400050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D3E5F-AE88-4EC2-B657-379125E6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90850"/>
            <a:ext cx="3848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定期点検画面が開かない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6E68ED-327C-4286-A3FD-61A56418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区分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37FCCA-CA79-40A9-AEC3-E7B6743D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81325"/>
            <a:ext cx="1476375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954ECB-EDF9-4B77-AB05-46D1108D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1323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障害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0D9B74-793B-4529-8E13-FC0C892C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718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対象サービス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E224C-9979-4E8F-A764-F33C274C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71875"/>
            <a:ext cx="2714625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BFBF36-2907-449B-AB1A-5D55795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81400"/>
            <a:ext cx="2562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定期点検ポータル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3ABEFE-A588-4943-8401-7056F16C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371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顧客連絡先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5C6798-BCA2-4033-8E77-A3F625BE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71875"/>
            <a:ext cx="276225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488B0C-158B-4411-8CF1-4080B0ED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581400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高橋 美咲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9B17A4-CDAA-447E-A5AB-D44FDCC4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62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内容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2E0F11-37A6-44FE-8450-7BDC344B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71950"/>
            <a:ext cx="5667375" cy="866775"/>
          </a:xfrm>
          <a:prstGeom xmlns:a="http://schemas.openxmlformats.org/drawingml/2006/main" prst="roundRect">
            <a:avLst>
              <a:gd name="adj" fmla="val 54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A16134-210E-46A6-BE2D-03D7E367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38625"/>
            <a:ext cx="547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ログイン後、点検一覧を開くとエラーが表示されます。</a:t>
            </a:r>
          </a:p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発生日時：2026/09/14 09:30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073DCE-9376-4D40-9545-1D2C3BA8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81600"/>
            <a:ext cx="14097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9DB6CC-62CF-4E6A-8EA5-0680D6B6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816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ファイルを選択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5C0966-1528-4CAB-928D-FE51FA53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81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error-screen.png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07EF76-E7F9-420C-8C59-C9E02B7C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971550" cy="270510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724F79-BD4C-4D26-9483-EEA13F4C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契約状況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84B6BA-E8D0-4499-9A3D-21AC7B83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38500"/>
            <a:ext cx="819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対象内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初回返信目標</a:t>
            </a:r>
          </a:p>
          <a:p xmlns:a="http://schemas.openxmlformats.org/drawingml/2006/main">
            <a:pPr algn="ctr">
              <a:defRPr sz="11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240分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D7213F-E1BA-4315-869B-CC927B38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72050"/>
            <a:ext cx="8191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DFCE3C-CFED-4539-8F62-B63DA81D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720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確認へ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0D6509-F7C9-4882-83A2-5D77B88D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813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33C3B3-9870-4A13-8C34-8FD2F95E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813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5696F8-14D7-4118-8890-406B801C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244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9B0FEF-F709-4704-AE4C-D74C5438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24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259AED-F13D-49F7-86FC-CE28FEFA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ED55E2-EA9A-45A3-A11E-4E7CCE88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顧客窓口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6EADAF-470B-4D12-A26A-59FE1D3C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4FDB19-BD5B-4646-B8DE-3D3E5DC4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3707A9-F120-4931-99AB-D8485432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顧客窓口は所属会社を自動設定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446A54-51B8-408C-944C-AF36ABAD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116DC0-2F25-41C3-B71F-EA0EBBF6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6CA316-868E-4524-8515-14DA608D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送信前に契約状況と返信目標を表示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22E001-F8AA-482B-ACEA-9EB2BF0E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CDC73A-DD0C-4C17-AAFA-A3F07DAE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AC2994-50DE-4C25-850E-7E0094C9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添付を含む内容を確認して受付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959F00-AB90-4D34-860F-45A73D24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691C1F-94D2-4B9B-959A-0CCB78D2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6F7678-F0F6-4752-B02C-ED9C8C38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SCR05   /tickets/new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4E9AE6-201A-4647-8ACE-BB6D1FEA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98257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605ED9C-AEB9-4B2F-9E53-AE9CB831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053F4-0696-43EE-856A-72762040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検索条件と期限表示から、対応が必要な案件を見つけます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43F0B-9F91-49B5-9C84-1C56068D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7ED81-519F-41B9-971C-FB0663D3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D5E6A-CDEA-4852-B349-D804C9E9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0DBA8-ECB4-4540-97E2-2822434D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58F3F-AB25-4057-AB0C-0DD6A5EB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89FD2-0278-4D7A-935A-CD7056EB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26E92-05D0-43E5-8F63-AF5572C9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A8266-9A1A-4062-90FA-9C2051A4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B64CF-C83B-4CA0-B0FA-BA985AA2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keepia.local/tickets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7BE1D-E00B-45BF-B293-F61846F8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2FBBA-5CA8-493F-B6A3-6AD271C9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2A5D5-01A9-4A23-B7C5-F88315D5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6A5A2-6CCF-4A21-8719-0DC591BF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94F8B-9C56-4161-9F2F-BFB6E258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975EB-BA41-4127-96DF-78FF07EF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F65BE-C5C6-480B-93E4-47495FD9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DDB21-CB30-4954-AB9D-324448F6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CEF69-7851-4299-A52E-A0E4C3F0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01B55-1070-4405-B9F2-D90C8EF0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C2401-85D5-44E2-AF91-8D9ACFF3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BBE5C-7072-4C80-9A4B-DF7C1C1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問い合わせ一覧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EC1AF2-10F9-47EE-8CA5-B4A47C71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9D1FA-E521-4197-A8CD-C839A91C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新規登録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049FE-8EFD-40E7-891C-333FE74B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086600" cy="885825"/>
          </a:xfrm>
          <a:prstGeom xmlns:a="http://schemas.openxmlformats.org/drawingml/2006/main" prst="roundRect">
            <a:avLst>
              <a:gd name="adj" fmla="val 752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465BE-AEEB-465D-A58E-23A4F542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67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検索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613BD-F417-45EA-A9F6-8D4CB2C0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67050"/>
            <a:ext cx="20955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93739-8E16-4760-8CB3-F4E9E0D0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765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件名・案件番号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AA857-8D20-4DD0-8DE2-E1E55563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670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状態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971706-D5FD-4827-A275-5BE8263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67050"/>
            <a:ext cx="11430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A48D93-97C2-46C8-93AA-F4DB658D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すべて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F5534A-888A-4CE2-BBAD-E4DA5FEE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8670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担当者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7DB62D-E3EA-4AAE-B5F7-C0B3D514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67050"/>
            <a:ext cx="11430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8EC330-7DB1-4CF6-9F0D-F3AD27B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765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自分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03D962-682F-440B-B0D0-3F928F86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76575"/>
            <a:ext cx="8858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88A905-D0F3-415C-B041-2B8240F2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765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検索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808D3E-B3FF-4DFD-B365-80F5A0DE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38575"/>
            <a:ext cx="648652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531607-88EF-4007-854E-188256FB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83857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案件番号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B36E09-E935-4BAB-81B8-6A7E53B7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38575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件名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0164FA-5D11-4953-A4EC-25D96DA7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385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FA2285-70B7-43F1-B8C4-09A29872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38575"/>
            <a:ext cx="790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状態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0484B4-0C5D-4A40-8914-5F4AF95A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38575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担当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C48D03-6402-4A8A-B47B-EDA9761D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38575"/>
            <a:ext cx="790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期限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81FA84-620A-40E5-B6D3-55B1E09F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33850"/>
            <a:ext cx="6486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04638F-049A-4ACA-97C4-D89F3CAB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1338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K-00124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643B37-EE51-4744-B8EE-D0FCF07B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3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点検画面が開かない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F66745-6980-4F66-9400-F52879B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338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東都商事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B6557C-9DDE-45FE-A89F-1EDF89C6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33850"/>
            <a:ext cx="790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対応中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5E4B00-B62E-4AEE-81A9-774204A8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1338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山田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A6F3E2-9633-4624-9508-1C3B237E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33850"/>
            <a:ext cx="790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あと58分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1A0BA8-269B-4EAE-BA8F-EAEC3D0F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6486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ACD044-24F7-491D-ACAF-2FA42038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476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K-00123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100F6F-3949-48AC-8227-F938437D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帳票の表示崩れ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4019FA-BE57-4254-8A8F-4CD7CFD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767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北星物流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FE64FE-D3FC-4735-BF12-9126A4F9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76750"/>
            <a:ext cx="790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新規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E3C745-C3C8-4A2F-9253-BFE44002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4767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未割当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0EA35C-E850-4FB3-AE93-8A25942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476750"/>
            <a:ext cx="790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期限超過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050F25-F6F4-43FF-8093-309A4098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19650"/>
            <a:ext cx="6486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1799AF-A232-4352-9260-AD32CB98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8196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K-00122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AF3B42-77FD-45E4-8CF0-6E38DBB8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196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月次CSVについて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76750E-EDD8-4491-88EC-5D30B3DE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東都商事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B8DED7-B6D8-4A51-AE33-2BC8D54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19650"/>
            <a:ext cx="790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完了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71C1D1-CF76-43B7-97C5-0018F8D5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8196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山田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9C796E-5CA5-46CE-8E20-3E638E4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819650"/>
            <a:ext cx="790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達成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FFD387-A3DE-415A-B1C2-692C4893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00525"/>
            <a:ext cx="666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D9581F-23FD-4648-9910-1386F13F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00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対応中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C834DC-6403-4558-BA07-D84ECFD0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43425"/>
            <a:ext cx="8096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D56E6C7-F5E9-4A5F-ADB2-422B172A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43425"/>
            <a:ext cx="752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DC2626"/>
                </a:solidFill>
                <a:latin typeface="BIZ UDPGothic"/>
                <a:ea typeface="BIZ UDPGothic"/>
                <a:cs typeface="BIZ UDPGothic"/>
              </a:rPr>
              <a:t>期限超過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9B47838-2E41-4FD3-AF3F-E1AB2464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3054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1–3 / 38件　　　　‹　1　2　3　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45DBEB-EC09-43A1-A0B9-6D68410A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A66FF3-5E1A-4ABC-9AA7-58C45AF1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8837DA6-2A2F-4492-A538-959BDE3A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385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0FED8D-7987-4CF4-98CB-2D0A32AE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385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AD0E871-EA21-4269-B7F4-A9017314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A8E72EF-BD73-456A-B669-3BF872B1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保守担当者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1D6E5B-34A6-4E91-8422-09246735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B588DCE-EAA2-47B1-A203-7EF084C0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F45584C-27F6-4859-8004-DE48BEF4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状態・担当・受付日などで絞り込み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110FE42-D97D-4930-962A-2F165296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5F68F9F-C5BA-4C31-B123-27913242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6D458D-44F9-4310-A8DB-FA750BB4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期限超過を一覧で識別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8B7745-B359-4807-8819-F6D320CE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65CCC68-D62A-4269-9E69-F0A4DD9D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BD003C6-DCF9-45F0-9421-82594912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顧客には自社案件だけを表示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CBE971-CD41-4B01-93F0-5EF374F2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9C332C-D253-4BC5-BF7D-B5EA1D62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68DFFE4-BF35-497E-BB39-7E067ECE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SCR06   /tickets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93EDA6B-2B7B-431B-9E8F-E8F6AF4E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40463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EEB58C-A346-4BBE-988D-ABA3422C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問い合わせ詳細・顧客版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8F973-0544-404F-A20D-570BCCE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顧客には公開された会話と完了確認だけを表示します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0E0A8-3129-4E48-BB85-8C3AE2B7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A909D-667C-48ED-9377-66E2C52A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11FDB-646A-432C-8A6D-AEB7B455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B5C98-0F08-45CA-8EC4-74ED8F48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B50A9-EE28-447D-BC88-69562B7E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60124-75D5-495A-8A49-297F131C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B3C8B-336F-46F7-9245-CDE624C5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E7DFF-5EDB-4F52-B05B-9997C16B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36BCC-E885-4957-9D9C-73D66BE9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keepia.local/tickets/K-00124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69FDB-CAB1-4453-AEEC-83DC123E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5E21A-5624-440E-A148-89C2167A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21078-E62D-499E-B635-5A8AFA72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5C684-3371-41D3-8B1C-F1C870A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3C751-4081-441B-A18C-6D85A93F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C5167-5C59-4335-842D-898931A4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243EE-CADF-49CB-A627-F9F7AF87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161A7-9E6D-43BC-AA7A-52F8523C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新規問い合わせ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FE876-6287-4492-A561-EA79E652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1060E-596B-4D53-8AA6-5D28EB57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問い合わせ / K-00124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58813-24B5-4DD4-B8DD-AAF27CA7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定期点検画面が開かない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BA005-D499-411A-BB33-57402C15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52675"/>
            <a:ext cx="7429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A41F5-9CB4-45D6-8FD8-7C6D2357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526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対応中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7A414-361E-43EC-9033-7F0659C7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62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受付 2026/09/14 09:42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214ED7-71DD-4F84-9BED-4D6A2D0B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14675"/>
            <a:ext cx="5753100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8BE656-E5D2-4B50-9A49-F658D856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623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高橋 美咲　09:42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407330-E783-44BC-96AB-AE6696DA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点検一覧を開くとエラーが表示されます。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81592D-90E0-4434-8D65-2E5F3311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00500"/>
            <a:ext cx="5133975" cy="809625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E6BC59-D8A8-4EDC-BAB3-57F3050F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57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山田 健（保守担当）　10:18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465FF7-9B5E-4DE1-884E-6522E733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52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確認中です。まずブラウザーの再読み込みをお試しください。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9B6083-322A-4130-BE3A-6C29E25B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72050"/>
            <a:ext cx="57531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453422-60EB-4F84-BFB5-0AAA8B8E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482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94A3B8"/>
                </a:solidFill>
                <a:latin typeface="BIZ UDPGothic"/>
                <a:ea typeface="BIZ UDPGothic"/>
                <a:cs typeface="BIZ UDPGothic"/>
              </a:rPr>
              <a:t>返信を入力…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F63CD2-F45A-4D05-8E0E-F43F4564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15000"/>
            <a:ext cx="11430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C28AD1-6993-4229-815A-8783DDFA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150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返信する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15176C-367A-4229-8CCA-F2B5FD0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A377CE-6E06-4748-BF60-CB1D57A3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0A3B2A-E874-4872-89C2-A2D0C757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530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89FF12-98D3-4B63-AE07-25DD6708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530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5DD89F-E664-4ADB-B937-A510C720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2A2633-669F-42E8-B40F-A405421B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顧客窓口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9B1B84-E05B-4456-8D3C-92AF9363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67EB9A-5C6E-4CFE-99D0-69AF258C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50F360-46F2-487E-B490-E60EA041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顧客と保守側の公開会話を時系列表示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E16EC1-6CBB-4E92-AF1C-B4C31F01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D034EF-0B5A-42E9-B3D1-51CF2F57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A0D7D2-2A82-43FF-9145-A5237D69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返信と公開添付を追加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A01202-E025-45EB-8FAE-A587A5AE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63DE27-ABEF-43F2-951F-2B0468F0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A940DA-1789-43D8-B5BD-BF8766EA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社内メモ・担当・個別工数は表示しない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BC3E0C-5A3F-48F4-89B4-639100A6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576947-9C43-431E-AAC9-B84D3E2C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3A06FE-F86B-41B4-9AE6-D5C79744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SCR07   /tickets/{id} 顧客表示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837AC1-869A-4297-BA74-A905BC57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830792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3B8836-9165-450E-BF1B-37482895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問い合わせ詳細・保守側版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90BAD-9034-4C54-809F-EC0D5DD1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公開情報と社内情報を画面上でも明確に分けます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AD367-5BAF-4DD3-8806-F665DDBC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C067C-A348-4A5A-8984-1606CBAA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72FC6-0A79-4036-A4B0-E2111D95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96A6F-1D85-4D6F-8324-A375FD69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38CDC-EF9C-4939-BFE3-02CFD683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E8F18-E09A-41F7-9FB3-28FE7C67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F735E-2332-4BC6-B1EF-0B269ACA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6C81F-6CF0-455B-8E60-CC6C1CCC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A6C62-C710-4D74-96BA-3FCF5773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keepia.local/tickets/K-00124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6FB00-2DB1-487A-8628-554F26AD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30D19-E13D-4FE0-9569-80226FF1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F9294-C66E-4575-8489-EF1F0A36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756BC-26D6-40EC-ADD0-E5066DE1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0E931-1C06-418D-B83B-1ED23F72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FDC62-E83C-4891-A461-A044939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15EF0-43F5-43AB-B59D-75AFE0A4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1E215-B56C-4305-BDA8-A12A96CE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3DD10-89A4-4115-A8D3-E2E9A96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9B254-421A-42AB-923C-AAA7DD51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4FA34-390B-4059-85AA-A796356C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問い合わせ / K-00124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96774-163B-4EE8-A316-E15AA767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定期点検画面が開かない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5218E-8580-4BF7-8166-7BE88920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62250"/>
            <a:ext cx="4000500" cy="17145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08616-64AD-40A9-A55F-8E2EF6EF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384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顧客との公開履歴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2A1C7E-932D-4D9B-9CAA-A922F6BD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1350"/>
            <a:ext cx="369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09:42 顧客　点検一覧でエラー</a:t>
            </a:r>
          </a:p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10:18 山田　確認中です</a:t>
            </a:r>
          </a:p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10:42 顧客　再読み込みでも再現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04144-14DC-4BBF-B869-D2C51E19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095750"/>
            <a:ext cx="11049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3ED8B6-1D27-451C-8BA1-80024808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957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公開返信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B7FFE4-F794-42CA-8A71-B7E53852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2590800" cy="17145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37D205-6270-43C2-8D77-892DEB48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案件管理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9B19ED-3C28-44BE-9D09-972C0B16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2190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状態　対応中</a:t>
            </a:r>
          </a:p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担当　山田 健</a:t>
            </a:r>
          </a:p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初回返信　達成</a:t>
            </a:r>
          </a:p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更新版　v4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85C61C-5834-4C16-A3B2-7DB1D893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38675"/>
            <a:ext cx="3276600" cy="11334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A282A4-D981-4CA4-BD3D-728264D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社内メモ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93294B-A6DD-4835-8E1B-131007F9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38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再現環境を確認。ログ調査中。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074954-7E3E-4832-BF5C-5CA8E413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91150"/>
            <a:ext cx="12573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C69506-42D2-4D16-8813-AC4090E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メモを追加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4D1E18-9028-49F4-8330-6DD9DB77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38675"/>
            <a:ext cx="3333750" cy="11334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911C40-F715-4CFF-871E-0B25DE88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rPr>
              <a:t>作業記録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AADE39-93E4-44CA-8497-C43CAEBA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3872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2026/09/14　30分　ログ確認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400F8B-8313-4C19-90DE-7C1CA56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391150"/>
            <a:ext cx="12573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45BA81-5321-4993-BC1A-4E9B007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3911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作業を追加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F7641E-2FEE-4E65-972D-701B24E3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FAA991-8C0D-452F-A0AF-7A8CD17E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E397CB-4E77-4DBD-AF06-2509EBA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6005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370896-0A98-47D6-ADA0-42456A68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6005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5D9C08-5008-4380-A3F1-ADEF8179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1EFCCF-D366-4A72-8CB1-73352222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保守担当者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DF1129-DEAC-4B93-8C4A-C75D1EE3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37D7F8-8F9D-4C1F-A1FF-2DE3CC7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3E78C3-F67A-4388-B81A-DDDB747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公開履歴と公開返信を左側に配置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526775-B291-4882-A187-CC5B90C8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7CFD2B-1ACE-4C3D-A349-281BC6C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9743F2-418C-445C-A7C1-655CF38C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担当・期限・状態を右側で管理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2A1502-ED50-48A8-BC4D-6EFA6316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3989F9-4D8D-4BF8-9967-5653A743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E9F056-C089-4E8B-85C4-5A64B77A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社内メモと作業記録を下段に分離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FC7169-749A-4CE8-91D4-9465638C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E2E0CD-693F-4B8D-A12D-9F53794E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A6E0D7-B5A4-4DA3-9F26-C8BC7A9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SCR07   /tickets/{id} 保守側表示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649A31-14A0-40C6-82E9-1C145DB9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48050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11236F-ACAC-40AB-8C45-DAE9B73C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通知一覧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6E8AE-CF21-4104-B50A-427D1841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本人宛の未読通知から、対象の問い合わせや報告へ移動します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9F3F2-5155-4BAF-8385-7031938B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DD4C4-A937-4AB6-B9C9-EC28CC67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8ADC0-F488-43D5-B182-C0037761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8C740-322D-4F36-B111-08049E58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E5CD3-1321-490A-8B2D-66AF7D6C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AE858-C685-4CBD-ABB7-3528F616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CEB8F-E41E-487D-8C24-ACA9EB57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89350-16B9-440A-8D34-5BEC26B3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D2DC3-9B2A-49E1-BC73-7BE575F8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keepia.local/notifications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346A3-7306-4F73-9500-5CBBC32A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F38BA-AD0B-464C-8395-6A818DB7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D569A-D6A3-46E6-9788-AC82E963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4374C-FDDE-4BA4-AAA8-8EEB9904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8343B-282D-4F01-9BC7-A949B1A9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3B9CA-AD47-4C5D-99CE-B70978C6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ABD03-DB2F-4BFA-B02D-D79749AF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C23BE-6516-4F02-83BE-433F64D1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99897-FC40-45FF-B251-B7750637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E0DF0-F15D-45C1-A9CE-1610AC11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26454-25C3-4462-A692-6A10A713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通知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36909-7AA0-4445-B117-40A8DB99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通知一覧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93BDE-E324-437A-A2FF-663459FC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04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E6641-C2E9-4A0B-91DC-12624558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781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すべて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7485E-ACC7-4535-AADA-92CFB113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819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30D90C-C324-4C91-BBD3-CCC5DD1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81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未読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F47F3C-2B32-4D3F-9BDA-B79C4B5E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67075"/>
            <a:ext cx="61912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3153F-3ECC-4194-A5E6-26794EFD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4805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5FE431-DE12-4F1D-B03A-C0E56782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4480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未読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9E03D-1AC7-4CD4-A3A7-D81BA1D1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24225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K-00124 に顧客から返信がありました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B22382-C6FA-4C0D-9E70-47F2B008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90900"/>
            <a:ext cx="933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3分前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685DEB-AAF1-454A-9281-B8688B63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81450"/>
            <a:ext cx="61912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850267-88BD-41AC-B542-2DED5DBB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62425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27146F-3EDC-4134-A353-6671C097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162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未読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0025BC-4714-4368-9344-AF6CBBC8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3860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K-00123 の初回返信期限を超過しました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87FB07-E98A-4241-8323-C0FAC52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105275"/>
            <a:ext cx="933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25分前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3CB71F-8AF9-4F55-9391-DA7A1590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95825"/>
            <a:ext cx="61912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261BA7-B39A-42F3-8D3E-965DBDF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768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8571FB-8616-43A6-BD11-80EBCCCA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876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既読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D095B0-B903-4B5B-91E1-35269D03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52975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2026年8月の月次報告が公開されました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167897-D267-4369-8891-22DC1621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819650"/>
            <a:ext cx="933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昨日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0FCC60-6629-4D31-8A11-90A8ED34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38B9DB-432E-454F-85B2-883B319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5B5DEB-F94F-4A74-A8B1-5AD4F63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528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7AD2B0-DCAE-4F8D-B921-7F66C69F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528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A98469-9456-4F63-B71E-1685D1E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D28906-DF3F-4368-BBBD-E7EE1EA4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保守担当者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5F7771-010C-4C77-9155-9F3BB82C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FB8EFB-1091-4E06-93BB-F6B059FB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36EA98-AEF9-4940-B677-F7684110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未読だけに絞り込み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AE13AF-8B9E-4CCE-A1E1-4EAB3F9D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B204AE-106F-417A-8F26-13E56D7C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46874B-08A6-4903-ADF5-317BD09B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行を選ぶと対象画面へ移動し既読化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673C60-A1C5-4C36-899D-502AB56E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59F186-B0C9-4ACA-9D3E-DCFDC39D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B312CA-ACF0-4CDE-84C7-C1371C55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移動先でも閲覧権限を再確認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8F1805-C7E0-4CEF-ADE7-E788C79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B2C98F-4824-495B-A0C0-4C9B9DBB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AAECC4-0232-4210-84E9-83D7B16C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SCR08   /notifications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1EB46E-4ABC-4018-B5EB-2010F1E2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940093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5704046-FCD9-40BC-95CE-9B164C15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メール送信失敗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95876-0F42-4F0F-8FAB-5E3DE286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管理者が原因を確認し、解消後に理由を入力して再送します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BCEFE-27CC-41F0-9578-AFC80294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14FB2-1B02-4259-8574-97628626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0F5FE-385E-4827-A480-B301D215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FC739-E3A7-4613-BB62-720573BD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70A17-3A04-466B-A059-C953F307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23D66-04B5-4EBD-8FB8-0BA1F9F2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638EC-A117-4C2A-ADB2-5CB3617F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1E78F-CF7F-44C4-877D-1457C091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ED8FB-E0F3-471C-8AC9-65A876C7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keepia.local/notification-deliveries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0BA49-3CD0-4F30-8B99-C81D84A5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01B7D-A4C0-4052-BD5F-7353A31A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75DAA-64B9-4230-A296-3ADFE568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C18EC-07AF-4907-9709-575CFA95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FCE4E-CAEA-4C62-A603-AD4292BD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ED625-D21A-42A5-B699-0E179D57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B40D2-57E9-41E2-8ECB-EC90D20D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98E1F-6043-4925-AB2A-BAA52A4D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1FCA2-0AB0-4BD0-8C93-A6FE7AD7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6B404-9012-494D-9B68-0550F104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8D032-925F-4BE5-8CDF-4A945CCA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BEEE5-3AB9-4F24-8229-3315BDE4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通知失敗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892A3-2148-4739-B6B1-A371E50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CCDD52-1476-4B64-BB34-624A5DB7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運用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6C50FE-BA6E-4DC1-B947-FFE7144A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メール送信失敗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1A520B-F721-4BA6-9BD4-76D20B68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717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送信状態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C29B0-E1E7-4AF6-A830-4ABF3205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71800"/>
            <a:ext cx="1809750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76D65-38B2-438F-96F6-B90C3AEC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8132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失敗・結果不明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E6EFF0-4DB1-41A7-958F-FE892B49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71800"/>
            <a:ext cx="7620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75A920-EA75-4B62-9E45-D57BDCC5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718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検索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6B1685-EC51-4DB0-876A-C3F0AF49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67100"/>
            <a:ext cx="562927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928C82-F2A8-4BEA-96AB-47A616F8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467100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日時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B4E12-AC9E-410A-B06D-C36EF106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宛先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1B0653-9588-40D4-B869-B772541D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671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イベント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975700-9F35-4978-B354-1937A814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66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試行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8DDF0F-4FBE-431C-B849-D34F06E3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67100"/>
            <a:ext cx="819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状態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DD6F58-CC17-4F1B-9D44-A178B429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62375"/>
            <a:ext cx="56292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DF52B8-5437-45A6-BADE-9B8651FF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762375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09/14 10:20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4AB2B9-FB1E-4DBD-ADEC-8AB5C291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623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user@example.jp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B0AC5F-D4EF-4E94-B983-83756128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623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顧客返信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0E71E1-C0CC-41F9-9047-4C90B517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623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3回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CDA670-2055-4A0A-BFA9-F39E23F1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62375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失敗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C52877-3CEF-4946-B102-67EEF0AD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56292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58926E-CA7D-4799-B28A-C23E16DB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105275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09/14 09:05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FA42F5-4974-4AA4-95FC-AC4C19BA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052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admin@example.jp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1C7299-C144-4D26-B326-E53F49F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052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期限超過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3995BE-1BCE-4BFC-9688-4A7B50E3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052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1回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E867E0-3FC4-46C9-A88E-43D9639E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05275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結果不明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15D653-DA68-4D91-B20A-761435AF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33900"/>
            <a:ext cx="2952750" cy="1238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1CCE1C-33CC-4B97-8E57-53372873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6005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DC2626"/>
                </a:solidFill>
                <a:latin typeface="BIZ UDPGothic"/>
                <a:ea typeface="BIZ UDPGothic"/>
                <a:cs typeface="BIZ UDPGothic"/>
              </a:rPr>
              <a:t>送信結果の詳細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E5E3DB-5CEA-40A7-98DF-BC5BFFF7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9053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SMTP 550 / 宛先拒否</a:t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最終試行：10:20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46FBA8-9A41-4767-A5D0-1003F471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3244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再送理由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22D9CE-46D7-4B5B-8EA1-0EF13C27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524500"/>
            <a:ext cx="15811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30029F-315E-41CB-8FB8-5B35B85F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34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宛先修正済み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E6B8D1-9233-4A08-9B27-0E854E72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24500"/>
            <a:ext cx="9144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85BF12-479F-412F-86F3-A717C6B5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245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再送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416850-E689-46BD-B00F-41A5A50A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480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96F1D5-B51F-45BF-986E-4F58CED5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48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00EBB6-EC0F-4E1C-BFA0-0327BB6B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A912C4-06E1-4512-96E8-DD0D4CDD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DEEDDD-A46E-4D34-A983-D9B0C280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9AF881-C557-44CC-A8A4-353B7C5B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6749A6-E8A2-4E0A-A70B-F877A811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EF1058-BB64-4743-87CB-B6A2EF5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DDC1B6-49E1-4FF9-BE83-230F7CE7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失敗と結果不明だけを検索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2B2CDB-324D-404F-B73F-A0AE12E9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45DB89-95BE-484A-A211-25BCF749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B03FD0-B772-4B36-8E81-3EA64987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原因・試行履歴・最終結果を確認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09F7E27-7DD9-4C61-BEF0-FC64E368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BE1C4A1-A8AA-41E6-8EF0-C926A509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08F36F-6336-448D-9E00-6A158A53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再送理由を記録して手動再送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54C788-9AB5-4A4F-B0D4-79991680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B97644-67A6-4804-B894-CEF3C434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0176751-9297-4C3E-AEDD-D69227DF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SCR09   /notification-deliveries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5F976E-3B41-4042-80B1-815248A8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154258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7DF75B3-69AE-476C-B340-49AE325A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月次報告管理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E46CC-F7DF-48B3-B715-872AA457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下書き生成から公開まで、現在の段階と報告版を確認します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AE26C-677A-4F2B-BCAC-F090BA77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29E16-5E76-4D13-A19D-950D912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B4D4B-8BC6-4C01-A25B-C5F84B21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955E0-ECD5-4634-8305-873A9C95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23A4E-3FB6-4B04-8AF9-84384AE7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45E7B-394A-4EFA-88BD-0E13EBE8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1E02D-6E00-4365-9D2A-B43D3ADA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22CF2-CC07-4817-84E1-920B26B7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7ABF9-6DE3-43F7-BB1C-B84A855A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keepia.local/reports/manage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5AEED-4488-4BA5-8506-04809CC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B0A41-BCF1-4BB0-BEC0-3E45B08E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98CB4-4CD9-4878-8CCB-36023157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3B544-C717-44FD-BA21-979A31CD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82567-C6B2-42A9-9B9D-04C4BF77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19F17-A697-4169-A288-C96BCE71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45755-F911-42EF-8045-11C551A8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41B37-4FAF-45F0-92B5-B530FA5A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369AE-96BF-4DA1-80E9-C4DA6B75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10D02-7D94-455B-A187-D8F08B17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7C0C9-1CC7-43EB-83EA-88B0BE0F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74DD0-AB32-410D-AD89-33C9FABC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通知失敗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E0744-7F25-467D-A6AA-7DE383D9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268CD-4D96-4313-8AF1-8D76E6A8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53E89-191E-4092-AF8A-34542984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月次報告管理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86AB1-7CC5-4B09-BDAC-ADE063D6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51988F-B9FC-4A65-89DF-93A25ED9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  生成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5BB989-CC94-4625-9D6F-892F5A38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701A51-F015-46C0-A4DF-08AC1C7F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  編集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DD4E02-F92D-4EA1-AC18-6EFC23A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0AEBA4-D0F0-46AB-983A-E59D0835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3  確認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4D57FF-4D0C-4C26-92DC-B6F1CD2C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BCC2EA-0E15-449E-BD7F-81C0CE9F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4  公開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46D604-FE6C-4365-BC9A-4E1439C0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95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対象顧客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9EFE33-8348-4F48-9674-FE88D520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2095500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FBB9E3-0701-4954-B281-41518D78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東都商事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0C534B-E22D-4297-8566-D2E2B5F4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95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対象月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208423-8C94-4A7C-BD4C-883B2B34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95675"/>
            <a:ext cx="1524000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0483FE-5FA7-4272-9530-85682EE5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505200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2026年8月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CAA2B2-4B3B-4925-BD64-39A82064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報告版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069392-3683-454F-9496-2E703E4B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95675"/>
            <a:ext cx="1524000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6CA0FD-CB0E-4DB2-8A8D-BA00C8C2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5200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v1 下書き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E87F5C-B3FE-499A-919E-F11F7555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43350"/>
            <a:ext cx="16573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6C6DC3-E5D8-47C3-A760-C5F618C5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005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受付件数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3F7C5E-CB3C-456A-8427-1D670ECB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18件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24453D-A3A6-40C1-BADB-498E75E3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43350"/>
            <a:ext cx="16573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153BB6-35E9-4B2A-9ED1-19E9899B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005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完了件数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5F4A61-B4FE-46ED-848B-C46713CB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0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16件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879F72-3F53-4FB8-9C03-98844EB5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43350"/>
            <a:ext cx="16573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CFE45C-83AE-4FF4-A364-CB0AAEB1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005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作業時間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B3C181-70BC-40F6-82BC-EA44298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0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22.5h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1787B5-EFBB-45AD-A6C6-757605F5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434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顧客向け要約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682266-AF48-476B-9CF6-5EA5680A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62525"/>
            <a:ext cx="5467350" cy="714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F5DA45-FD04-422A-A0D4-F10D0E8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29200"/>
            <a:ext cx="5238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8月は18件を受け付け、16件が完了しました。重大障害はありません。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CA6A49-30E5-42A3-8210-2D1DE5BB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72100"/>
            <a:ext cx="1066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6BB79D-E07E-4786-955C-9A577FFD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721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確認へ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1C6136-ED1F-41E9-BFF0-5A94FC42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44B0FF-4E6B-4409-8357-551BB565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A754EF-A658-4AAF-9CE0-73AE9389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339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D563EC-1236-46EC-870A-46A4067E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339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4A35D5-AAFB-424F-AAD1-EDA87FA1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E846FE-90CC-48C6-ACC0-6149B430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DB31D2-9FD5-4B17-BF0D-21C91F3F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1400B5-E2DB-4604-B4E3-A8FB253D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F6AA6F4-2BCD-411D-B924-E021E71B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生成・編集・確認・公開の段階を表示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187BB0-3B35-494D-A09D-EB5491E3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AE7652-67D4-4722-AE17-D09AA6A3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2839AD-352B-4B57-A19D-32224E81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顧客・月・版を固定して内容を確認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AFF3BF-4EC4-42B1-977A-29B7CBDF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F23C31-0D6D-4BC1-93AF-0F318DA0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7631EA2-AB83-48F7-92F2-2FF4B19A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公開後の訂正は新しい版として作成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467262-55C5-48EF-AD34-9CE6CE54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503FBC-05DC-4C6C-B2C9-892D187C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0252CD-DB2E-455F-8EA8-EE96C024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SCR10   /reports/manage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EEA5AD-6675-4C0C-9071-8AE19B17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158129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2382BD-A5EE-476F-8A19-FD70C063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月次報告閲覧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3E683-8D28-4464-BF41-75B73FA8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顧客は、自社の最新公開版を画面・印刷・CSVで確認します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3E05B-CEE5-4F09-85BD-AF63AA61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7AFCC-A0DC-4293-A71E-1DA239A4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E7011-BF24-40FB-A938-729351FC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B6D3F-16B2-4C5A-A34F-D479ADD4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97190-1FCC-4137-A28A-031BF83D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CAFAE-B81C-4248-B451-8633234B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861BD-8E9C-4724-A460-614E8431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82667-2613-4FD9-9306-7D9E1ED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D26BE-01F5-488E-9AD9-5137C5C4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keepia.local/reports/R-202608-01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04382-44B1-4C11-B6B6-DFD04C2B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41D19-9E01-4C42-9922-AE4D18BC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0D87-86CA-4E30-9783-89253F8C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F390A-F981-4245-90AD-D36B6B0A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9C64D-3DF0-4B6F-9138-B34DC01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45DE8-9A98-4417-BBDC-A632A574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60EEA-7551-4536-BC05-FEF178AA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新規問い合わせ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45490-3BD9-4171-B4DC-E0324511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D5663-9825-4AD1-AA94-E5F93F96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2177D-2FFB-44A1-8CAC-8D9AD717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2E7D5-5473-4683-9900-CD680025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2026年8月 月次報告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D185C-D485-4A75-A596-BEBBB607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14575"/>
            <a:ext cx="7810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C6BAE-A22C-4920-B8F8-928F139E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1457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印刷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B3CEF-5829-4775-BEE4-BC0358CD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14575"/>
            <a:ext cx="7810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1B22B-0452-416C-BD1B-85DD0888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1457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4B63C-81A6-4835-92F5-BD67487A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71775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東都商事　公開版 v1　公開日 2026/09/05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B6FAA7-61CE-4E5A-BD34-8B99FC57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33725"/>
            <a:ext cx="186690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010B9-73FC-4B1B-8F00-BAAEB4F6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90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受付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E701ED-3E3A-4F13-8392-CF3E2D8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1947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18件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A5B90E-5595-4766-87ED-816CDF4C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33725"/>
            <a:ext cx="186690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78E799-4735-44D7-A777-BDE073E1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90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完了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D6CA18-8C2E-4D86-AA3D-81FC125A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1947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16件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83C077-22FA-4997-B444-AAB7301C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33725"/>
            <a:ext cx="186690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46F223-6D92-4C11-9018-077280D6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90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期限内初回返信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E2ED49-9CBF-4A43-AA34-3A596C5E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1947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803D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15803D"/>
                </a:solidFill>
                <a:latin typeface="BIZ UDPGothic"/>
                <a:ea typeface="BIZ UDPGothic"/>
                <a:cs typeface="BIZ UDPGothic"/>
              </a:rPr>
              <a:t>94%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915FFF-4CEC-428A-BD71-0295DA5B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624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概要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02EB6F-338C-4303-A16F-7C32A773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19575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8月は18件を受け付け、16件が完了しました。重大障害はありません。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9695CF-A667-4060-9F4A-0994E8CB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52975"/>
            <a:ext cx="55816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9C683C-4374-47BB-99D4-7BB5354C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752975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案件番号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837DC1-2CF5-480C-BE0F-C1382383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75297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件名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8B1D6B-318D-4926-9D8E-DCFAD99F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52975"/>
            <a:ext cx="1009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状態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69E3AE-8C24-4EFC-AE40-7F41459A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5297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完了日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7076B0-9A9D-4FD6-9A23-8D82C99C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48250"/>
            <a:ext cx="558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2C9240-5EEF-4645-A54F-06AC4DA2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048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K-00110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410631-7D03-428F-B0C0-8A1F79A9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48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定期点検画面の確認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1F5CD9-C63E-47E3-91DB-AE10B222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482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完了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ADD253-8C2D-488C-93B9-25609A09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048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08/08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B7B11C-AEEA-4068-BDFB-A02AEF09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91150"/>
            <a:ext cx="558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2707CF-61D6-49AE-8336-122A264C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3911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K-00115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4A6CF1-9774-4E59-B7D4-30F991D6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3911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帳票の表示崩れ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C9708C-0C4E-470A-B8ED-0D680C1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391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完了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FE40B5-25A2-4B84-9E11-57A9E699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911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08/21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4D7828-0749-4CF2-A7FC-EE64E919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52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4FB604-561D-4D16-AD87-1FB5758C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52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FFB0EB-B65C-4209-92E5-82104DD3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1242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1D7831-E15A-4FBA-A0BD-603925DA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124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31BA84-8135-4669-888B-6CED8439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DADD72-5B98-45D3-86FC-73E4AF22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顧客窓口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6A413B-8BAC-49A0-90E0-1F098043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9B4580-54B6-46D9-AF6A-A06942AB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B9014C-3E44-4908-B957-14F509CA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印刷とCSVも同じ公開版から生成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97C7AA-7518-4058-9544-9A466A9B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7B3AF9-3A3D-433F-A389-F2C9D839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76D30F-90D2-4604-9352-40030799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集計と顧客向け案件一覧を表示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A6BF6D-EA98-455F-B244-E6D7E93F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3C47D3-6010-4FDF-8D15-E849F69E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7AE099-9752-4632-85C9-70925B4D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顧客は自社の最新公開版だけを閲覧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E5AEF79-DA12-4A83-8094-A57A21AE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3A0680-F0CC-424F-9161-04DD1783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5E7226-4C83-46FB-9610-40B9A73E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SCR11   /reports/{id}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0EAEFE-940A-417B-B08C-827E4C1A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02795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0C0CB0-6F32-457F-BD45-EEC3987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D19CD-A6C6-44FD-B43F-7D1880A7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対応が必要な案件と担当者の負荷を、最初の画面で確認します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D230B-CE7A-4AF6-A6AB-97400964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D4351-C0A9-4AF0-BEC1-6F67EA75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1E142-B734-445F-AB3E-81916A52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052A9-EC47-400B-BC67-659E1357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149FB-3B25-4D88-8213-4FBAB883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C59C5-CEB4-4968-8FCE-C11C97DF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95D3B-A79A-4FBB-BA59-4F4070EB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EF355-EC6C-4EA1-8C91-6182FD57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A16D0-0922-439F-968D-E205C8B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8D805-ECFB-48B5-B8F6-56BB091B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407AC-0A27-401A-9CE3-EDE2085F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7BB2F-F389-4B57-ABBA-5505041F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B7DF7-C897-4125-B9DA-E7F2D291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4DDDA-7B54-4F4D-B066-8A5D9FD4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F7CAC-0EE8-4850-93DD-253826B5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C0622A-2C65-43D1-BD0C-B8E3F3E1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1130D-77B2-42FF-9309-28C0AAED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3AD6E-DFB1-4741-874B-F0D5D95B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AC08B-9E29-42F4-BBAC-D90E7843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7D9E2-62FF-4468-8A04-A18861C2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730B6-923B-4651-BAB7-79F0340B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通知失敗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93142-7AA5-49E7-8FA0-67FD8B02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88975D-FD07-4F6D-B448-3BCD5481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ホーム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9CC19-4E40-4035-915A-2A9CF8B2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CD55FF-D85D-4F78-AAFD-5608235E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13906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9A74A6-2DCD-48D6-9855-2DE6ED4D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4797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未完了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55D92-9BF6-4342-87FA-5C5EFD39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737268-097A-43F6-95ED-01E1D81B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13906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17D23-EA4B-4EAB-8DA6-F8A9F358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4797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未割当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4B8827-1FB8-423E-8CB9-94129371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480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C5E54D-D801-44C3-B6F6-71518492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13906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CCF7DE-D6A0-4DF8-A78A-7F4A9C7D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4797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期限超過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2EE56C-BA01-4618-8616-D3AC5609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C2626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DC2626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F641C1-03CC-407D-8464-203A5980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13906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26E6CE-86C2-4214-9F9E-B9E869D2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今月の作業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478713-958C-49CB-994A-E8C81CE8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480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rPr>
              <a:t>128h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67C70B-2620-4CBE-A9BC-D5705656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95700"/>
            <a:ext cx="3028950" cy="1952625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64A05A-8EE9-4BB5-BC41-5685E83A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担当別の案件数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A88F4-2193-4372-9502-8FDE33EC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山田 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A67792-6ECC-4F47-A9A4-6D372938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29100"/>
            <a:ext cx="1371600" cy="142875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B51D14-C65A-46C7-90DD-8CD71C93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910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8件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6CC11E-BBA5-4DA5-9F00-5AA906BD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005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佐々木 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E269BA-166C-4561-A9E4-F404321B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38675"/>
            <a:ext cx="990600" cy="142875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9C53C3-A192-45D4-B993-BF1173F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00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6件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FFB251-9E29-43EF-8DAF-4CA09D91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鈴木 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1BCBC8-27C3-46BD-AADD-ABFB26EC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48250"/>
            <a:ext cx="590550" cy="142875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BA4A6B-7D5F-4498-9F58-DDA47AF0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10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4件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19BE9B-C51A-4AF8-97DC-C9CF5930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95700"/>
            <a:ext cx="3114675" cy="1952625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58D762-83DA-437B-B28F-019C0FBD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7190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要対応案件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8BB52B-24F4-487D-8CF7-C6FF8587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91000"/>
            <a:ext cx="2705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K-00123　初回返信期限超過</a:t>
            </a:r>
          </a:p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K-00125　担当者未割当</a:t>
            </a:r>
          </a:p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K-00127　顧客返信あり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8B9DB9-E212-4A30-B9C7-18536D80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D30325-ECD2-4B76-8C13-F6F6D21C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CE12E3-6098-47F2-B487-2FFF001C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1ECD1B-1ACA-43F6-82D7-473C12A5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2F95D6-4247-46A8-9B1F-66E58AA8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B4BEF8-04F0-4F37-A506-7AF5A2C8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B57073-16DF-47DD-B855-E2A61D6A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200A86-5B13-485E-98A3-F8358BF3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808567-ECA1-4143-8ED6-2D24F7EB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未完了・未割当・期限超過を上部で確認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8C4734-7E3C-447A-AB3D-915F10D1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995C42-F857-4F04-A952-7CDDC971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B4FF91-1034-426D-A0E8-68494FBC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担当者ごとの案件数と負荷を表示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463B74-D7CC-4B2B-A1B3-287ACF47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48BB97-0302-45CB-9B9D-49187ADD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57FC01-F339-415A-BB58-BC03B3D2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要対応案件から詳細へ直接移動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6A691F0-E3B4-4E9F-AF45-BBABDBB5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7BADD7-5A3C-478E-8EB7-2061C30B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323A2C-AE7D-4A51-8999-49B691A2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SCR12   /dashboard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EB8DC18-0C61-4FA6-8F0C-974BD7B9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16378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4542EA3-A426-4AC2-AF55-B48BDE65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6DAB6-415F-441D-B88A-239A25C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管理者が重要な変更を検索し、誰が何をしたか確認します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59D2F-91BF-4229-8969-02D85F3F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4A3D1-4C13-4C5C-A586-BAEA199D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AF30B-6F70-4427-BD80-9058A582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5105400"/>
          </a:xfrm>
          <a:prstGeom xmlns:a="http://schemas.openxmlformats.org/drawingml/2006/main" prst="roundRect">
            <a:avLst>
              <a:gd name="adj" fmla="val 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C50A8-D40B-4A62-AC74-5E483A5B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97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BE7E7-1D28-4BD8-B519-44C7FDA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DC678-9B43-4503-8E71-A80FA335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1A2C7-044C-4572-BAEF-BF4F5A2D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162A0-897F-4F5C-A770-BE98E63D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57300"/>
            <a:ext cx="485775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88A76-0B3B-462E-B179-F53580BF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668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keepia.local/audit-logs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6DAE6-7CB7-45CF-BF73-2D1D9D04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D868F-B023-42BB-B47E-CD97ABF4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keepia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F2177-056D-47B9-9850-920933F9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D7E2F1"/>
                </a:solidFill>
                <a:latin typeface="BIZ UDPGothic"/>
                <a:ea typeface="BIZ UDPGothic"/>
                <a:cs typeface="BIZ UDPGothic"/>
              </a:rPr>
              <a:t>A保守サービス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5D370-4C5B-4A78-971F-E92117D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144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🔔  佐藤 花子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1E78B-BC87-4C6F-B01F-3FA92401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5049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B918A-C1A3-4BA7-9D07-E46D6739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ダッシュボード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C645E-77F6-4741-A88D-E4350830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384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問い合わせ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B7B45-A33B-4D3C-8B0B-F72AE07D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顧客・契約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58A3D-68CA-496B-A7B7-AE3F5037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利用者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252BA-1332-4A76-A19C-43AC80D6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245D3-67B5-406C-9AA7-B204F5B7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通知失敗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DD420-2268-484E-B8A1-C84B116B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95775"/>
            <a:ext cx="13525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8E715-C109-4373-B6ED-619FDA30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871D6-CBE4-421B-931E-AC460D36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1455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0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運用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9B70D-4D7E-4FC8-986E-1E873A1D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537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操作履歴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4C6C52-2AE0-497E-AE5A-BB285572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62250"/>
            <a:ext cx="7086600" cy="89535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2326B0-C2B8-4067-9706-BFE080CE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47975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対象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F6B95-FA18-4BAA-B1D0-44545341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2047875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16AB49-41A2-46C6-AAE9-CDD6590B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57525"/>
            <a:ext cx="1895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問い合わせ・利用者・契約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8FA54F-DE32-4917-A565-F34CA48A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47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実行者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2727B3-94EF-49AB-96AA-C4D40F93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1238250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C7A163-F3F4-41B6-A38B-43AC87E5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57525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すべて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E51451-6354-4A66-93DF-4CE61E30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期間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5D0BF7-64AC-4130-BBF4-9A97435B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48000"/>
            <a:ext cx="1619250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35480-4133-4D5C-9D1B-3B9914EF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57525"/>
            <a:ext cx="1466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09/01〜09/30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DBB267-72F6-49E4-9EF2-78F0746F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48000"/>
            <a:ext cx="79057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59F2DD-2A67-4D1C-BE83-C3CEBCD6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検索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AE31EE-2723-49A8-A9F9-14A44399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38575"/>
            <a:ext cx="625792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FB8EB2-DF2A-4B19-949C-71284F96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838575"/>
            <a:ext cx="102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日時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607A85-B639-4D36-9CCB-44720F3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838575"/>
            <a:ext cx="1000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実行者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9434BD-E168-4DAC-A542-A8F25D6F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38575"/>
            <a:ext cx="108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操作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444A7-F88F-4D8A-8196-EC7E1C5A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3857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対象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53141D-9040-4E87-87E6-57E56393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1095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1">
                <a:solidFill>
                  <a:srgbClr val="475569"/>
                </a:solidFill>
                <a:latin typeface="BIZ UDPGothic"/>
                <a:ea typeface="BIZ UDPGothic"/>
                <a:cs typeface="BIZ UDPGothic"/>
              </a:rPr>
              <a:t>結果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C59E89-93F6-4A4D-8E94-2C9F59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33850"/>
            <a:ext cx="6257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6409AA-7E29-490A-821B-7D44B6BB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1338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09/14 10:52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0E8764-A86D-48C7-9091-FDB20EE9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1338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山田 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D576F8-C604-4D99-9CC0-E26D43A1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33850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状態変更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A92412-CF58-4D33-A78D-7813DF23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338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K-00124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7BA13E-B105-43D5-9188-2C16851E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13385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対応中→確認待ち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BE46E5-A99A-4552-816B-4C535D8A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6257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476E5E-4E73-458D-81A6-CE9C9F5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4767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09/14 10:20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E2FA9E-1982-4F82-82CB-FD76B097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476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佐藤 花子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B2DA19-06B5-4495-8B73-08D21318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利用者変更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87FA50-692A-437F-8CD9-C163559D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高橋 美咲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2651D3-17C8-4DBB-94E0-2A0F3E2A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47675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役割変更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DBB2DA-149B-4407-B06B-166920DB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19650"/>
            <a:ext cx="6257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C065E1-A15B-4749-8990-B654BF1F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8196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09/13 16:40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F95110-75BB-42E3-A1CC-3FA9C34A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8196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佐藤 花子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98CE6C-E33D-4FAA-89BF-1C226628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契約版追加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80BC509-8D09-45D9-A8C1-F636A421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196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東都商事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81107F-E597-4E17-A285-973231AA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1965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v2→v3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764C7F-465D-46A4-918B-37FB8590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29225"/>
            <a:ext cx="626745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8E5209-8723-41CE-A657-CD7EA0B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286375"/>
            <a:ext cx="598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履歴は閲覧専用です。変更理由がある操作は理由も詳細に表示します。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FD620B-7FDF-4BFF-BEEC-2B0FC05C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878652-0BAF-4E10-9A18-ABE84045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39709B-0385-46DB-9AC4-A1B11FC4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95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1282CEE-7202-4925-9576-C2823871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95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5BD364-06C6-4D20-8FED-7ABB6F41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38250"/>
            <a:ext cx="1981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4C76D8-4A97-48E7-8143-0741E7F9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477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保守会社管理者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AF188B-384F-4E87-87BF-0EA7AACF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54E472-FB18-4E0B-A1C3-B7D822CB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954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31D446-9A0E-4AB0-A498-2DBA1C84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764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対象・実行者・期間で検索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9E70975-E76E-49C3-B1FA-77FD8A5A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0D0602-7DAB-40F5-8995-20618D47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CA8961-A760-4F11-895F-60DBD3C6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051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変更前後の値と実行結果を確認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9D2200-BF78-4B9D-A71E-09F5B2D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B845B2B-AB59-41E8-9711-F4C9CAFE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82A886-BF07-497C-A2A4-6B05C90D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338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656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履歴からデータを変更する操作は置かない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8CA3586-AD31-4638-87BB-5A127FDF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A9F7018-E6EB-4F79-9FA2-C8513271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5302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画面内の名称・サンプル値は、配置を確認するための例です。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B4123FC-6839-4FF0-A68D-A6F67F21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SCR12   /audit-logs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37422E8-02A5-4C47-9C75-72F7BDAE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531148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4EF762-8E61-4D04-A4BC-EFAD3E8A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3150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主要業務の画面遷移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675CE-5A1F-4C6F-A9D8-D0F463B2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問い合わせの受付から、完了後の月次報告までを一つの流れで示します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C2ADF-36F6-4C8A-86B5-0B69304C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8382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EA616-A723-40E1-8051-4357B760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設計案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C4D0C-DAF0-46E2-868A-EEEA7CB7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27241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8A048-E1C4-485F-A14D-2E611CD9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457200" cy="1266825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F3FC8-5D79-421D-A495-CCD731CB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AEB41-E0E8-40FB-8926-15C73B26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430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問い合わせ登録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DAE1D-4E98-4389-B262-CE922BD5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431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顧客窓口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DA1A8-F683-479E-865D-8F20CA33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669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A0E7B-C3C1-4240-BF8A-F77E4B0B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71625"/>
            <a:ext cx="27241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23FD5-A26A-449F-B949-15F90BF8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71625"/>
            <a:ext cx="457200" cy="1266825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7F85D-839D-4C12-8852-8D7E61D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B84A4-3711-4B58-953B-1B83F5F9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430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問い合わせ一覧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A5948-C895-47A6-AF00-19169839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431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管理者・担当者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CFDD7-00C6-4161-8C03-E0BF1A7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669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9DEEA-D9A3-4B49-8EF6-A8A295BC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71625"/>
            <a:ext cx="27241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11369-2ED2-4A4B-BFB5-EB5BD62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71625"/>
            <a:ext cx="457200" cy="1266825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C56D3-155D-498B-BF5A-CCE1590F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AC0C3D-ECED-4E74-B18C-D284859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430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詳細・担当割当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33735-D02D-4807-8128-717CA0EB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431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563EB"/>
                </a:solidFill>
                <a:latin typeface="BIZ UDPGothic"/>
                <a:ea typeface="BIZ UDPGothic"/>
                <a:cs typeface="BIZ UDPGothic"/>
              </a:rPr>
              <a:t>管理者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19C78-1E43-4BFE-A37C-64EB0A1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669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29509F-FEBD-4653-909C-A0077005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52875"/>
            <a:ext cx="27241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99AA2-FD61-4BD1-A672-456FB462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52875"/>
            <a:ext cx="457200" cy="1266825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572A40-6A1F-45EA-88AA-5B75758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05300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8E3B1-C26E-45A1-8A00-A75A4CAD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243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公開返信・作業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FE5E3-332B-4753-B229-AE0DF18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243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0F766E"/>
                </a:solidFill>
                <a:latin typeface="BIZ UDPGothic"/>
                <a:ea typeface="BIZ UDPGothic"/>
                <a:cs typeface="BIZ UDPGothic"/>
              </a:rPr>
              <a:t>担当者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16F47-198A-430F-AFDE-59799369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482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EBD57A-97B2-4659-83C4-75F778BA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52875"/>
            <a:ext cx="27241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F5030-5BBC-453A-AA3A-4938AF88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52875"/>
            <a:ext cx="457200" cy="1266825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EE72D6-A2EF-46C8-BA4E-7B284A9F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05300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34891-A265-42B7-BCE9-B0FE0FA6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243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顧客確認・完了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A53F19-58DE-4724-B738-3ADD108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243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D97706"/>
                </a:solidFill>
                <a:latin typeface="BIZ UDPGothic"/>
                <a:ea typeface="BIZ UDPGothic"/>
                <a:cs typeface="BIZ UDPGothic"/>
              </a:rPr>
              <a:t>顧客窓口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CC7D92-679E-4AFA-9D2D-A8DBD9C4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482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D7A7BC-7786-49F8-917D-EC11BE66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27241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256DA7-AE27-470C-8E8F-77C31500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457200" cy="1266825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1A2293-6430-41E6-8A03-DD8E0681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20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F70D8F-C874-4110-9B76-5BEF6644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243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62033"/>
                </a:solidFill>
                <a:latin typeface="BIZ UDPGothic"/>
                <a:ea typeface="BIZ UDPGothic"/>
                <a:cs typeface="BIZ UDPGothic"/>
              </a:rPr>
              <a:t>月次報告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123F16-711F-4C3C-9C8B-18C43DF7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243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7C3AED"/>
                </a:solidFill>
                <a:latin typeface="BIZ UDPGothic"/>
                <a:ea typeface="BIZ UDPGothic"/>
                <a:cs typeface="BIZ UDPGothic"/>
              </a:rPr>
              <a:t>管理者→顧客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FB96AB-0D93-42A7-BA4C-8AF4FF80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482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9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SCR10・11</a:t>
            </a:r>
          </a:p>
        </p:txBody>
      </p:sp>
      <p:cxnSp>
        <p:nvCxnSpPr>
          <p:cNvPr id="90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429000" y="2205038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48500" y="2205038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7" idx="2"/>
            <a:endCxn xmlns:a="http://schemas.openxmlformats.org/drawingml/2006/main" id="23" idx="3"/>
          </p:cNvCxnSpPr>
          <p:nvPr/>
        </p:nvCxnSpPr>
        <p:spPr>
          <a:xfrm xmlns:a="http://schemas.openxmlformats.org/drawingml/2006/main">
            <a:off x="9305925" y="2838450"/>
            <a:ext cx="1590675" cy="1747838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23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7048500" y="4586288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29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3429000" y="4586288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5569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DF801B-B917-4333-834D-C72802F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99536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6A7225-41E0-41DF-8203-E10890F1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顧客の追加返信で対応中へ戻る。完了案件の再開は管理者が理由を記録して行う設計案。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667DE0-7F85-431A-9606-844C0017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問い合わせ対応から月次報告まで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937015-7900-46FD-8D6E-3BFBA41F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5B677A"/>
                </a:solidFill>
                <a:latin typeface="BIZ UDPGothic"/>
                <a:ea typeface="BIZ UDPGothic"/>
                <a:cs typeface="BIZ UDP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33583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2026-09-15T05:09:28.1610000Z</dcterms:created>
  <dcterms:modified xsi:type="dcterms:W3CDTF">2026-09-15T05:09:28.1610000Z</dcterms:modified>
</coreProperties>
</file>